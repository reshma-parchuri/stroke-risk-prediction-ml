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Lst>
  <p:sldSz cy="5143500" cx="9144000"/>
  <p:notesSz cx="6858000" cy="9144000"/>
  <p:embeddedFontLst>
    <p:embeddedFont>
      <p:font typeface="Proxima Nova"/>
      <p:regular r:id="rId49"/>
      <p:bold r:id="rId50"/>
      <p:italic r:id="rId51"/>
      <p:boldItalic r:id="rId5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22DC115-1704-4F57-AA10-7547003446CC}">
  <a:tblStyle styleId="{722DC115-1704-4F57-AA10-7547003446CC}"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font" Target="fonts/ProximaNova-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ProximaNova-italic.fntdata"/><Relationship Id="rId50" Type="http://schemas.openxmlformats.org/officeDocument/2006/relationships/font" Target="fonts/ProximaNova-bold.fntdata"/><Relationship Id="rId52" Type="http://schemas.openxmlformats.org/officeDocument/2006/relationships/font" Target="fonts/ProximaNova-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a721af1248_4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a721af1248_4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a9de446105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a9de446105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a9de446105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a9de446105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a71f814bf0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a71f814bf0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ae4f625400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ae4f625400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ae4f625400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ae4f625400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ae4f625400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ae4f625400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a9de446105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a9de446105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a9de446105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a9de446105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ae4f625400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ae4f625400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a9de446105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a9de446105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a9de446105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a9de446105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a9de446105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a9de446105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a9de446105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a9de446105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a9de446105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a9de446105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a9de446105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a9de446105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a9de446105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a9de446105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a9de446105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a9de446105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ae4f625400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ae4f625400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af713a2f0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af713a2f0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“We applied the Shapiro–Wilk test to evaluate the </a:t>
            </a:r>
            <a:r>
              <a:rPr b="1" lang="en">
                <a:solidFill>
                  <a:schemeClr val="dk1"/>
                </a:solidFill>
              </a:rPr>
              <a:t>normality assumption</a:t>
            </a:r>
            <a:br>
              <a:rPr b="1" lang="en">
                <a:solidFill>
                  <a:schemeClr val="dk1"/>
                </a:solidFill>
              </a:rPr>
            </a:br>
            <a:r>
              <a:rPr b="1" lang="en">
                <a:solidFill>
                  <a:schemeClr val="dk1"/>
                </a:solidFill>
              </a:rPr>
              <a:t> </a:t>
            </a:r>
            <a:r>
              <a:rPr lang="en">
                <a:solidFill>
                  <a:schemeClr val="dk1"/>
                </a:solidFill>
              </a:rPr>
              <a:t> null hypothesis of this test is that the data is </a:t>
            </a:r>
            <a:r>
              <a:rPr b="1" lang="en">
                <a:solidFill>
                  <a:schemeClr val="dk1"/>
                </a:solidFill>
              </a:rPr>
              <a:t>normally distributed</a:t>
            </a:r>
            <a:r>
              <a:rPr lang="en">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200">
                <a:solidFill>
                  <a:schemeClr val="dk1"/>
                </a:solidFill>
              </a:rPr>
              <a:t>The </a:t>
            </a:r>
            <a:r>
              <a:rPr b="1" lang="en" sz="1200">
                <a:solidFill>
                  <a:schemeClr val="dk1"/>
                </a:solidFill>
              </a:rPr>
              <a:t>p-value tells us the probability of observing this data if normality were true</a:t>
            </a:r>
            <a:r>
              <a:rPr lang="en" sz="1200">
                <a:solidFill>
                  <a:schemeClr val="dk1"/>
                </a:solidFill>
              </a:rPr>
              <a:t>.”</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0.05 is a conventional significance level that balances false positives and false negatives in hypothesis testing.</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We tested normality to justify </a:t>
            </a:r>
            <a:r>
              <a:rPr b="1" lang="en" sz="1200">
                <a:solidFill>
                  <a:schemeClr val="dk1"/>
                </a:solidFill>
              </a:rPr>
              <a:t>method selection</a:t>
            </a:r>
            <a:r>
              <a:rPr lang="en" sz="1200">
                <a:solidFill>
                  <a:schemeClr val="dk1"/>
                </a:solidFill>
              </a:rPr>
              <a:t> a</a:t>
            </a:r>
            <a:endParaRPr sz="1200">
              <a:solidFill>
                <a:schemeClr val="dk1"/>
              </a:solidFill>
            </a:endParaRPr>
          </a:p>
          <a:p>
            <a:pPr indent="0" lvl="0" marL="0" rtl="0" algn="l">
              <a:spcBef>
                <a:spcPts val="0"/>
              </a:spcBef>
              <a:spcAft>
                <a:spcPts val="0"/>
              </a:spcAft>
              <a:buNone/>
            </a:pPr>
            <a:r>
              <a:rPr lang="en" sz="1200">
                <a:solidFill>
                  <a:schemeClr val="dk1"/>
                </a:solidFill>
              </a:rPr>
              <a:t>“The p-values from the Shapiro–Wilk test provide strong statistical evidence that normality assumptions are violated, directly informing our choice of resampling </a:t>
            </a:r>
            <a:br>
              <a:rPr lang="en" sz="1200">
                <a:solidFill>
                  <a:schemeClr val="dk1"/>
                </a:solidFill>
              </a:rPr>
            </a:b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ac880b2a6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ac880b2a6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chemeClr val="dk1"/>
              </a:buClr>
              <a:buSzPts val="1100"/>
              <a:buChar char="●"/>
            </a:pPr>
            <a:r>
              <a:rPr lang="en">
                <a:solidFill>
                  <a:schemeClr val="dk1"/>
                </a:solidFill>
              </a:rPr>
              <a:t>independent two-sample t-tests to check whether the mean values of numeric features differ significantly between the stroke and no-stroke groups.</a:t>
            </a:r>
            <a:br>
              <a:rPr lang="en">
                <a:solidFill>
                  <a:schemeClr val="dk1"/>
                </a:solidFill>
              </a:rPr>
            </a:br>
            <a:r>
              <a:rPr lang="en">
                <a:solidFill>
                  <a:schemeClr val="dk1"/>
                </a:solidFill>
              </a:rPr>
              <a:t>Mean BMI is similar in both groups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i="1" lang="en" sz="1200">
                <a:solidFill>
                  <a:schemeClr val="dk1"/>
                </a:solidFill>
              </a:rPr>
              <a:t>“BMI does not meaningfully differentiate stroke risk in this dataset</a:t>
            </a:r>
            <a:br>
              <a:rPr lang="en">
                <a:solidFill>
                  <a:schemeClr val="dk1"/>
                </a:solidFill>
              </a:rPr>
            </a:br>
            <a:r>
              <a:rPr lang="en">
                <a:solidFill>
                  <a:schemeClr val="dk1"/>
                </a:solidFill>
              </a:rPr>
              <a:t>The t-test results validate that age and glucose differ significantly between stroke and non-stroke patients, while BMI does not, which aligns with the model performance.</a:t>
            </a:r>
            <a:br>
              <a:rPr lang="en">
                <a:solidFill>
                  <a:schemeClr val="dk1"/>
                </a:solidFill>
              </a:rPr>
            </a:br>
            <a:r>
              <a:rPr lang="en">
                <a:solidFill>
                  <a:schemeClr val="dk1"/>
                </a:solidFill>
              </a:rPr>
              <a:t> Age and glucose show statistically significant mean differences between groups stroke and no stroke; BMI does not.</a:t>
            </a:r>
            <a:endParaRPr>
              <a:solidFill>
                <a:schemeClr val="dk1"/>
              </a:solidFill>
            </a:endParaRPr>
          </a:p>
          <a:p>
            <a:pPr indent="0" lvl="0" marL="457200" rtl="0" algn="l">
              <a:lnSpc>
                <a:spcPct val="115000"/>
              </a:lnSpc>
              <a:spcBef>
                <a:spcPts val="1200"/>
              </a:spcBef>
              <a:spcAft>
                <a:spcPts val="0"/>
              </a:spcAft>
              <a:buNone/>
            </a:pPr>
            <a:br>
              <a:rPr lang="en">
                <a:solidFill>
                  <a:schemeClr val="dk1"/>
                </a:solidFill>
              </a:rPr>
            </a:br>
            <a:endParaRPr>
              <a:solidFill>
                <a:schemeClr val="dk1"/>
              </a:solidFill>
            </a:endParaRPr>
          </a:p>
          <a:p>
            <a:pPr indent="0" lvl="0" marL="0" rtl="0" algn="l">
              <a:lnSpc>
                <a:spcPct val="115000"/>
              </a:lnSpc>
              <a:spcBef>
                <a:spcPts val="1200"/>
              </a:spcBef>
              <a:spcAft>
                <a:spcPts val="0"/>
              </a:spcAft>
              <a:buNone/>
            </a:pPr>
            <a:br>
              <a:rPr lang="en">
                <a:solidFill>
                  <a:schemeClr val="dk1"/>
                </a:solidFill>
              </a:rPr>
            </a:b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acdc486dcd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acdc486dcd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This slide explains how categorical (non-numeric) variables were converted into numeric 0/1 columns so that machine-learning models can process them correctly.</a:t>
            </a:r>
            <a:br>
              <a:rPr lang="en">
                <a:solidFill>
                  <a:schemeClr val="dk1"/>
                </a:solidFill>
              </a:rPr>
            </a:br>
            <a:r>
              <a:rPr lang="en">
                <a:solidFill>
                  <a:schemeClr val="dk1"/>
                </a:solidFill>
              </a:rPr>
              <a:t>   Machine-learning models require numeric inputs, so we transformed all categorical variables using one-hot encoding.</a:t>
            </a:r>
            <a:r>
              <a:rPr b="1" lang="en">
                <a:solidFill>
                  <a:schemeClr val="dk1"/>
                </a:solidFill>
              </a:rPr>
              <a:t>”</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“One-hot encoding converts each category into a separate binary column indicating presence or absence.”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Because correlated features like age and glucose are clinically meaningful, and their interaction improves prediction.</a:t>
            </a:r>
            <a:endParaRPr>
              <a:solidFill>
                <a:schemeClr val="dk1"/>
              </a:solidFill>
            </a:endParaRPr>
          </a:p>
          <a:p>
            <a:pPr indent="0" lvl="0" marL="0" rtl="0" algn="ctr">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acdc486dcd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3acdc486dcd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It tests whether two categorical variables are independent or associated.</a:t>
            </a:r>
            <a:br>
              <a:rPr b="1" lang="en">
                <a:solidFill>
                  <a:schemeClr val="dk1"/>
                </a:solidFill>
              </a:rPr>
            </a:br>
            <a:r>
              <a:rPr lang="en">
                <a:solidFill>
                  <a:schemeClr val="dk1"/>
                </a:solidFill>
              </a:rPr>
              <a:t> p &gt; 0.05</a:t>
            </a:r>
            <a:r>
              <a:rPr b="1" lang="en">
                <a:solidFill>
                  <a:schemeClr val="dk1"/>
                </a:solidFill>
              </a:rPr>
              <a:t> → </a:t>
            </a:r>
            <a:r>
              <a:rPr i="1" lang="en">
                <a:solidFill>
                  <a:schemeClr val="dk1"/>
                </a:solidFill>
              </a:rPr>
              <a:t>“These variables do not show a statistically significant association with stroke in this dataset.”</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b="1">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af713a2f01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af713a2f01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We used a scatter plot to visually examine the relationship between two continuous variables</a:t>
            </a:r>
            <a:r>
              <a:rPr b="1" lang="en" sz="1200">
                <a:solidFill>
                  <a:schemeClr val="dk1"/>
                </a:solidFill>
              </a:rPr>
              <a:t> </a:t>
            </a:r>
            <a:r>
              <a:rPr lang="en" sz="1200">
                <a:solidFill>
                  <a:schemeClr val="dk1"/>
                </a:solidFill>
              </a:rPr>
              <a:t>(age and BMI) and to see how stroke cases are distributed across them.</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t>By coloring points by stroke outcome, we can visually assess whether stroke cases concentrate in specific regions.”</a:t>
            </a:r>
            <a:endParaRPr/>
          </a:p>
          <a:p>
            <a:pPr indent="0" lvl="0" marL="0" rtl="0" algn="l">
              <a:lnSpc>
                <a:spcPct val="115000"/>
              </a:lnSpc>
              <a:spcBef>
                <a:spcPts val="1200"/>
              </a:spcBef>
              <a:spcAft>
                <a:spcPts val="0"/>
              </a:spcAft>
              <a:buClr>
                <a:schemeClr val="dk1"/>
              </a:buClr>
              <a:buSzPts val="1100"/>
              <a:buFont typeface="Arial"/>
              <a:buNone/>
            </a:pPr>
            <a:r>
              <a:rPr lang="en"/>
              <a:t>  “This plot shows that stroke cases occur across all BMI values but are more common at older ages.”</a:t>
            </a:r>
            <a:endParaRPr/>
          </a:p>
          <a:p>
            <a:pPr indent="0" lvl="0" marL="0" rtl="0" algn="l">
              <a:spcBef>
                <a:spcPts val="120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afd5341d56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3afd5341d56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afd5341d56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3afd5341d56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af713a2f01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3af713a2f01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correlation heatmap is a visual representation of the Pearson r-values shown in the previous slide. Both are based on the same Pearson correlation calculations.</a:t>
            </a:r>
            <a:br>
              <a:rPr lang="en">
                <a:solidFill>
                  <a:schemeClr val="dk1"/>
                </a:solidFill>
              </a:rPr>
            </a:br>
            <a:r>
              <a:rPr lang="en">
                <a:solidFill>
                  <a:schemeClr val="dk1"/>
                </a:solidFill>
              </a:rPr>
              <a:t> Focuses mainly on:</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Correlation between each variable and stroke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Strength of </a:t>
            </a:r>
            <a:r>
              <a:rPr b="1" lang="en">
                <a:solidFill>
                  <a:schemeClr val="dk1"/>
                </a:solidFill>
              </a:rPr>
              <a:t>i</a:t>
            </a:r>
            <a:r>
              <a:rPr lang="en">
                <a:solidFill>
                  <a:schemeClr val="dk1"/>
                </a:solidFill>
              </a:rPr>
              <a:t>ndividual linear relationships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Shows: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Variable ↔ variable correlations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Variable ↔ stroke correlations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Multicollinearity      </a:t>
            </a:r>
            <a:endParaRPr>
              <a:solidFill>
                <a:schemeClr val="dk1"/>
              </a:solidFill>
            </a:endParaRPr>
          </a:p>
          <a:p>
            <a:pPr indent="0" lvl="0" marL="0" rtl="0" algn="l">
              <a:lnSpc>
                <a:spcPct val="115000"/>
              </a:lnSpc>
              <a:spcBef>
                <a:spcPts val="1200"/>
              </a:spcBef>
              <a:spcAft>
                <a:spcPts val="0"/>
              </a:spcAft>
              <a:buNone/>
            </a:pPr>
            <a:r>
              <a:rPr lang="en">
                <a:solidFill>
                  <a:schemeClr val="dk1"/>
                </a:solidFill>
              </a:rPr>
              <a:t>Multicollinearity occurs when predictor variables are highly correlated, making it difficult to estimate their individual effects accurately.</a:t>
            </a:r>
            <a:br>
              <a:rPr lang="en">
                <a:solidFill>
                  <a:schemeClr val="dk1"/>
                </a:solidFill>
              </a:rPr>
            </a:br>
            <a:br>
              <a:rPr b="1" lang="en">
                <a:solidFill>
                  <a:schemeClr val="dk1"/>
                </a:solidFill>
              </a:rPr>
            </a:br>
            <a:endParaRPr b="1">
              <a:solidFill>
                <a:schemeClr val="dk1"/>
              </a:solidFill>
            </a:endParaRPr>
          </a:p>
          <a:p>
            <a:pPr indent="0" lvl="0" marL="0" rtl="0" algn="l">
              <a:lnSpc>
                <a:spcPct val="115000"/>
              </a:lnSpc>
              <a:spcBef>
                <a:spcPts val="1200"/>
              </a:spcBef>
              <a:spcAft>
                <a:spcPts val="0"/>
              </a:spcAft>
              <a:buNone/>
            </a:pPr>
            <a:r>
              <a:t/>
            </a:r>
            <a:endParaRPr b="1">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af713a2f01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3af713a2f01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acdc486dcd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3acdc486dcd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ae4f625400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3ae4f625400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af713a2f01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3af713a2f01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ac880b2a66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3ac880b2a66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af713a2f01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3af713a2f01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af713a2f01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3af713a2f01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ac880b2a66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3ac880b2a66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af713a2f01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3af713a2f01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af713a2f01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3af713a2f01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ae4f625400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3ae4f625400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af713a2f01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3af713a2f01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ae4f625400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3ae4f625400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a9de446105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3a9de446105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2"/>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1" name="Google Shape;11;p2"/>
          <p:cNvSpPr txBox="1"/>
          <p:nvPr>
            <p:ph type="ctrTitle"/>
          </p:nvPr>
        </p:nvSpPr>
        <p:spPr>
          <a:xfrm>
            <a:off x="510450" y="1257300"/>
            <a:ext cx="8123100" cy="15885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12" name="Google Shape;12;p2"/>
          <p:cNvSpPr txBox="1"/>
          <p:nvPr>
            <p:ph idx="1" type="subTitle"/>
          </p:nvPr>
        </p:nvSpPr>
        <p:spPr>
          <a:xfrm>
            <a:off x="510450" y="3182313"/>
            <a:ext cx="8123100" cy="630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400"/>
              <a:buNone/>
              <a:defRPr sz="2400">
                <a:solidFill>
                  <a:schemeClr val="lt1"/>
                </a:solidFill>
              </a:defRPr>
            </a:lvl1pPr>
            <a:lvl2pPr lvl="1">
              <a:lnSpc>
                <a:spcPct val="100000"/>
              </a:lnSpc>
              <a:spcBef>
                <a:spcPts val="0"/>
              </a:spcBef>
              <a:spcAft>
                <a:spcPts val="0"/>
              </a:spcAft>
              <a:buClr>
                <a:schemeClr val="lt1"/>
              </a:buClr>
              <a:buSzPts val="2400"/>
              <a:buNone/>
              <a:defRPr sz="2400">
                <a:solidFill>
                  <a:schemeClr val="lt1"/>
                </a:solidFill>
              </a:defRPr>
            </a:lvl2pPr>
            <a:lvl3pPr lvl="2">
              <a:lnSpc>
                <a:spcPct val="100000"/>
              </a:lnSpc>
              <a:spcBef>
                <a:spcPts val="0"/>
              </a:spcBef>
              <a:spcAft>
                <a:spcPts val="0"/>
              </a:spcAft>
              <a:buClr>
                <a:schemeClr val="lt1"/>
              </a:buClr>
              <a:buSzPts val="2400"/>
              <a:buNone/>
              <a:defRPr sz="2400">
                <a:solidFill>
                  <a:schemeClr val="lt1"/>
                </a:solidFill>
              </a:defRPr>
            </a:lvl3pPr>
            <a:lvl4pPr lvl="3">
              <a:lnSpc>
                <a:spcPct val="100000"/>
              </a:lnSpc>
              <a:spcBef>
                <a:spcPts val="0"/>
              </a:spcBef>
              <a:spcAft>
                <a:spcPts val="0"/>
              </a:spcAft>
              <a:buClr>
                <a:schemeClr val="lt1"/>
              </a:buClr>
              <a:buSzPts val="2400"/>
              <a:buNone/>
              <a:defRPr sz="2400">
                <a:solidFill>
                  <a:schemeClr val="lt1"/>
                </a:solidFill>
              </a:defRPr>
            </a:lvl4pPr>
            <a:lvl5pPr lvl="4">
              <a:lnSpc>
                <a:spcPct val="100000"/>
              </a:lnSpc>
              <a:spcBef>
                <a:spcPts val="0"/>
              </a:spcBef>
              <a:spcAft>
                <a:spcPts val="0"/>
              </a:spcAft>
              <a:buClr>
                <a:schemeClr val="lt1"/>
              </a:buClr>
              <a:buSzPts val="2400"/>
              <a:buNone/>
              <a:defRPr sz="2400">
                <a:solidFill>
                  <a:schemeClr val="lt1"/>
                </a:solidFill>
              </a:defRPr>
            </a:lvl5pPr>
            <a:lvl6pPr lvl="5">
              <a:lnSpc>
                <a:spcPct val="100000"/>
              </a:lnSpc>
              <a:spcBef>
                <a:spcPts val="0"/>
              </a:spcBef>
              <a:spcAft>
                <a:spcPts val="0"/>
              </a:spcAft>
              <a:buClr>
                <a:schemeClr val="lt1"/>
              </a:buClr>
              <a:buSzPts val="2400"/>
              <a:buNone/>
              <a:defRPr sz="2400">
                <a:solidFill>
                  <a:schemeClr val="lt1"/>
                </a:solidFill>
              </a:defRPr>
            </a:lvl6pPr>
            <a:lvl7pPr lvl="6">
              <a:lnSpc>
                <a:spcPct val="100000"/>
              </a:lnSpc>
              <a:spcBef>
                <a:spcPts val="0"/>
              </a:spcBef>
              <a:spcAft>
                <a:spcPts val="0"/>
              </a:spcAft>
              <a:buClr>
                <a:schemeClr val="lt1"/>
              </a:buClr>
              <a:buSzPts val="2400"/>
              <a:buNone/>
              <a:defRPr sz="2400">
                <a:solidFill>
                  <a:schemeClr val="lt1"/>
                </a:solidFill>
              </a:defRPr>
            </a:lvl7pPr>
            <a:lvl8pPr lvl="7">
              <a:lnSpc>
                <a:spcPct val="100000"/>
              </a:lnSpc>
              <a:spcBef>
                <a:spcPts val="0"/>
              </a:spcBef>
              <a:spcAft>
                <a:spcPts val="0"/>
              </a:spcAft>
              <a:buClr>
                <a:schemeClr val="lt1"/>
              </a:buClr>
              <a:buSzPts val="2400"/>
              <a:buNone/>
              <a:defRPr sz="2400">
                <a:solidFill>
                  <a:schemeClr val="lt1"/>
                </a:solidFill>
              </a:defRPr>
            </a:lvl8pPr>
            <a:lvl9pPr lvl="8">
              <a:lnSpc>
                <a:spcPct val="100000"/>
              </a:lnSpc>
              <a:spcBef>
                <a:spcPts val="0"/>
              </a:spcBef>
              <a:spcAft>
                <a:spcPts val="0"/>
              </a:spcAft>
              <a:buClr>
                <a:schemeClr val="lt1"/>
              </a:buClr>
              <a:buSzPts val="2400"/>
              <a:buNone/>
              <a:defRPr sz="2400">
                <a:solidFill>
                  <a:schemeClr val="lt1"/>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cxnSp>
        <p:nvCxnSpPr>
          <p:cNvPr id="15" name="Google Shape;15;p3"/>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6" name="Google Shape;16;p3"/>
          <p:cNvSpPr txBox="1"/>
          <p:nvPr>
            <p:ph type="title"/>
          </p:nvPr>
        </p:nvSpPr>
        <p:spPr>
          <a:xfrm>
            <a:off x="510450" y="2057400"/>
            <a:ext cx="8123100" cy="77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7" name="Google Shape;17;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 name="Google Shape;21;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 name="Google Shape;22;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 name="Google Shape;25;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 name="Google Shape;30;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3" name="Google Shape;33;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5" name="Shape 35"/>
        <p:cNvGrpSpPr/>
        <p:nvPr/>
      </p:nvGrpSpPr>
      <p:grpSpPr>
        <a:xfrm>
          <a:off x="0" y="0"/>
          <a:ext cx="0" cy="0"/>
          <a:chOff x="0" y="0"/>
          <a:chExt cx="0" cy="0"/>
        </a:xfrm>
      </p:grpSpPr>
      <p:sp>
        <p:nvSpPr>
          <p:cNvPr id="36" name="Google Shape;36;p8"/>
          <p:cNvSpPr txBox="1"/>
          <p:nvPr>
            <p:ph type="title"/>
          </p:nvPr>
        </p:nvSpPr>
        <p:spPr>
          <a:xfrm>
            <a:off x="490250" y="526350"/>
            <a:ext cx="57975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7" name="Google Shape;37;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9"/>
          <p:cNvSpPr/>
          <p:nvPr/>
        </p:nvSpPr>
        <p:spPr>
          <a:xfrm>
            <a:off x="4572000" y="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 name="Google Shape;40;p9"/>
          <p:cNvCxnSpPr/>
          <p:nvPr/>
        </p:nvCxnSpPr>
        <p:spPr>
          <a:xfrm>
            <a:off x="5029675" y="4495500"/>
            <a:ext cx="468300" cy="0"/>
          </a:xfrm>
          <a:prstGeom prst="straightConnector1">
            <a:avLst/>
          </a:prstGeom>
          <a:noFill/>
          <a:ln cap="flat" cmpd="sng" w="19050">
            <a:solidFill>
              <a:schemeClr val="lt2"/>
            </a:solidFill>
            <a:prstDash val="solid"/>
            <a:round/>
            <a:headEnd len="sm" w="sm" type="none"/>
            <a:tailEnd len="sm" w="sm" type="none"/>
          </a:ln>
        </p:spPr>
      </p:cxnSp>
      <p:sp>
        <p:nvSpPr>
          <p:cNvPr id="41" name="Google Shape;41;p9"/>
          <p:cNvSpPr txBox="1"/>
          <p:nvPr>
            <p:ph type="title"/>
          </p:nvPr>
        </p:nvSpPr>
        <p:spPr>
          <a:xfrm>
            <a:off x="265500" y="1205825"/>
            <a:ext cx="4045200" cy="15096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4" name="Google Shape;44;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11700" y="42368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None/>
              <a:defRPr sz="2100"/>
            </a:lvl1pPr>
          </a:lstStyle>
          <a:p/>
        </p:txBody>
      </p:sp>
      <p:sp>
        <p:nvSpPr>
          <p:cNvPr id="47" name="Google Shape;47;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11"/>
          <p:cNvSpPr txBox="1"/>
          <p:nvPr>
            <p:ph hasCustomPrompt="1" type="title"/>
          </p:nvPr>
        </p:nvSpPr>
        <p:spPr>
          <a:xfrm>
            <a:off x="311700" y="991475"/>
            <a:ext cx="8520600" cy="19179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071300"/>
            <a:ext cx="8520600" cy="901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pearmint">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1pPr>
            <a:lvl2pPr lvl="1">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2pPr>
            <a:lvl3pPr lvl="2">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3pPr>
            <a:lvl4pPr lvl="3">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4pPr>
            <a:lvl5pPr lvl="4">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5pPr>
            <a:lvl6pPr lvl="5">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6pPr>
            <a:lvl7pPr lvl="6">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7pPr>
            <a:lvl8pPr lvl="7">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8pPr>
            <a:lvl9pPr lvl="8">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Proxima Nova"/>
              <a:buChar char="●"/>
              <a:defRPr sz="1800">
                <a:solidFill>
                  <a:schemeClr val="accent3"/>
                </a:solidFill>
                <a:latin typeface="Proxima Nova"/>
                <a:ea typeface="Proxima Nova"/>
                <a:cs typeface="Proxima Nova"/>
                <a:sym typeface="Proxima Nova"/>
              </a:defRPr>
            </a:lvl1pPr>
            <a:lvl2pPr indent="-317500" lvl="1" marL="914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2pPr>
            <a:lvl3pPr indent="-317500" lvl="2" marL="1371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3pPr>
            <a:lvl4pPr indent="-317500" lvl="3" marL="1828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4pPr>
            <a:lvl5pPr indent="-317500" lvl="4" marL="22860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5pPr>
            <a:lvl6pPr indent="-317500" lvl="5" marL="27432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6pPr>
            <a:lvl7pPr indent="-317500" lvl="6" marL="3200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7pPr>
            <a:lvl8pPr indent="-317500" lvl="7" marL="3657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8pPr>
            <a:lvl9pPr indent="-317500" lvl="8" marL="4114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Proxima Nova"/>
                <a:ea typeface="Proxima Nova"/>
                <a:cs typeface="Proxima Nova"/>
                <a:sym typeface="Proxima Nova"/>
              </a:defRPr>
            </a:lvl1pPr>
            <a:lvl2pPr lvl="1" algn="r">
              <a:buNone/>
              <a:defRPr sz="1000">
                <a:solidFill>
                  <a:schemeClr val="dk1"/>
                </a:solidFill>
                <a:latin typeface="Proxima Nova"/>
                <a:ea typeface="Proxima Nova"/>
                <a:cs typeface="Proxima Nova"/>
                <a:sym typeface="Proxima Nova"/>
              </a:defRPr>
            </a:lvl2pPr>
            <a:lvl3pPr lvl="2" algn="r">
              <a:buNone/>
              <a:defRPr sz="1000">
                <a:solidFill>
                  <a:schemeClr val="dk1"/>
                </a:solidFill>
                <a:latin typeface="Proxima Nova"/>
                <a:ea typeface="Proxima Nova"/>
                <a:cs typeface="Proxima Nova"/>
                <a:sym typeface="Proxima Nova"/>
              </a:defRPr>
            </a:lvl3pPr>
            <a:lvl4pPr lvl="3" algn="r">
              <a:buNone/>
              <a:defRPr sz="1000">
                <a:solidFill>
                  <a:schemeClr val="dk1"/>
                </a:solidFill>
                <a:latin typeface="Proxima Nova"/>
                <a:ea typeface="Proxima Nova"/>
                <a:cs typeface="Proxima Nova"/>
                <a:sym typeface="Proxima Nova"/>
              </a:defRPr>
            </a:lvl4pPr>
            <a:lvl5pPr lvl="4" algn="r">
              <a:buNone/>
              <a:defRPr sz="1000">
                <a:solidFill>
                  <a:schemeClr val="dk1"/>
                </a:solidFill>
                <a:latin typeface="Proxima Nova"/>
                <a:ea typeface="Proxima Nova"/>
                <a:cs typeface="Proxima Nova"/>
                <a:sym typeface="Proxima Nova"/>
              </a:defRPr>
            </a:lvl5pPr>
            <a:lvl6pPr lvl="5" algn="r">
              <a:buNone/>
              <a:defRPr sz="1000">
                <a:solidFill>
                  <a:schemeClr val="dk1"/>
                </a:solidFill>
                <a:latin typeface="Proxima Nova"/>
                <a:ea typeface="Proxima Nova"/>
                <a:cs typeface="Proxima Nova"/>
                <a:sym typeface="Proxima Nova"/>
              </a:defRPr>
            </a:lvl6pPr>
            <a:lvl7pPr lvl="6" algn="r">
              <a:buNone/>
              <a:defRPr sz="1000">
                <a:solidFill>
                  <a:schemeClr val="dk1"/>
                </a:solidFill>
                <a:latin typeface="Proxima Nova"/>
                <a:ea typeface="Proxima Nova"/>
                <a:cs typeface="Proxima Nova"/>
                <a:sym typeface="Proxima Nova"/>
              </a:defRPr>
            </a:lvl7pPr>
            <a:lvl8pPr lvl="7" algn="r">
              <a:buNone/>
              <a:defRPr sz="1000">
                <a:solidFill>
                  <a:schemeClr val="dk1"/>
                </a:solidFill>
                <a:latin typeface="Proxima Nova"/>
                <a:ea typeface="Proxima Nova"/>
                <a:cs typeface="Proxima Nova"/>
                <a:sym typeface="Proxima Nova"/>
              </a:defRPr>
            </a:lvl8pPr>
            <a:lvl9pPr lvl="8" algn="r">
              <a:buNone/>
              <a:defRPr sz="1000">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42.png"/><Relationship Id="rId5" Type="http://schemas.openxmlformats.org/officeDocument/2006/relationships/image" Target="../media/image1.png"/><Relationship Id="rId6"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50.png"/><Relationship Id="rId5"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8.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6.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46.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3.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0.png"/><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0.png"/><Relationship Id="rId4" Type="http://schemas.openxmlformats.org/officeDocument/2006/relationships/image" Target="../media/image3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2.png"/><Relationship Id="rId4" Type="http://schemas.openxmlformats.org/officeDocument/2006/relationships/image" Target="../media/image3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39.png"/><Relationship Id="rId4" Type="http://schemas.openxmlformats.org/officeDocument/2006/relationships/image" Target="../media/image13.png"/><Relationship Id="rId5"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7.png"/><Relationship Id="rId4" Type="http://schemas.openxmlformats.org/officeDocument/2006/relationships/image" Target="../media/image19.png"/><Relationship Id="rId5" Type="http://schemas.openxmlformats.org/officeDocument/2006/relationships/image" Target="../media/image2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2.png"/><Relationship Id="rId4" Type="http://schemas.openxmlformats.org/officeDocument/2006/relationships/image" Target="../media/image4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3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45.png"/><Relationship Id="rId4" Type="http://schemas.openxmlformats.org/officeDocument/2006/relationships/image" Target="../media/image2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3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4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5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3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4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35.png"/><Relationship Id="rId4" Type="http://schemas.openxmlformats.org/officeDocument/2006/relationships/image" Target="../media/image5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4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3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3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3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4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4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4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hyperlink" Target="https://www.kaggle.com/datasets/fedesoriano/stroke-prediction-dataset/data?select=healthcare-dataset-stroke-data.csv" TargetMode="External"/><Relationship Id="rId4" Type="http://schemas.openxmlformats.org/officeDocument/2006/relationships/hyperlink" Target="https://doi.org/10.1038/s41598-024-61665-4"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440225" y="1948100"/>
            <a:ext cx="8123100" cy="1588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SzPts val="990"/>
              <a:buNone/>
            </a:pPr>
            <a:r>
              <a:rPr lang="en" sz="3720"/>
              <a:t>Predicting Brain Stroke Occurrence Using Machine Learning Models for Early Prevention and Intervention</a:t>
            </a:r>
            <a:endParaRPr sz="3720"/>
          </a:p>
          <a:p>
            <a:pPr indent="0" lvl="0" marL="0" rtl="0" algn="l">
              <a:spcBef>
                <a:spcPts val="0"/>
              </a:spcBef>
              <a:spcAft>
                <a:spcPts val="0"/>
              </a:spcAft>
              <a:buSzPts val="990"/>
              <a:buNone/>
            </a:pPr>
            <a:r>
              <a:t/>
            </a:r>
            <a:endParaRPr sz="4320"/>
          </a:p>
        </p:txBody>
      </p:sp>
      <p:sp>
        <p:nvSpPr>
          <p:cNvPr id="60" name="Google Shape;60;p13"/>
          <p:cNvSpPr txBox="1"/>
          <p:nvPr>
            <p:ph idx="1" type="subTitle"/>
          </p:nvPr>
        </p:nvSpPr>
        <p:spPr>
          <a:xfrm>
            <a:off x="510450" y="3182313"/>
            <a:ext cx="8123100" cy="6300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None/>
            </a:pPr>
            <a:r>
              <a:rPr lang="en"/>
              <a:t>Reshma Parchuri, Biraj Shah, Selome Tefera, Thomas Xuan</a:t>
            </a:r>
            <a:endParaRPr/>
          </a:p>
          <a:p>
            <a:pPr indent="0" lvl="0" marL="0" rtl="0" algn="l">
              <a:spcBef>
                <a:spcPts val="0"/>
              </a:spcBef>
              <a:spcAft>
                <a:spcPts val="0"/>
              </a:spcAft>
              <a:buNone/>
            </a:pPr>
            <a:r>
              <a:t/>
            </a:r>
            <a:endParaRPr/>
          </a:p>
        </p:txBody>
      </p:sp>
      <p:pic>
        <p:nvPicPr>
          <p:cNvPr id="61" name="Google Shape;61;p13"/>
          <p:cNvPicPr preferRelativeResize="0"/>
          <p:nvPr/>
        </p:nvPicPr>
        <p:blipFill>
          <a:blip r:embed="rId3">
            <a:alphaModFix/>
          </a:blip>
          <a:stretch>
            <a:fillRect/>
          </a:stretch>
        </p:blipFill>
        <p:spPr>
          <a:xfrm>
            <a:off x="6920025" y="3182325"/>
            <a:ext cx="1643300" cy="16433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Introduction</a:t>
            </a:r>
            <a:endParaRPr/>
          </a:p>
        </p:txBody>
      </p:sp>
      <p:sp>
        <p:nvSpPr>
          <p:cNvPr id="67" name="Google Shape;67;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A brain stroke is a serious medical condition that occurs when the blood supply to a part of the brain is interrupted or reduced, preventing brain tissue from getting enough oxygen and nutrients. Without oxygen, brain cells begin to die within minutes, making stroke a medical emergency that requires immediate treatment.</a:t>
            </a:r>
            <a:endParaRPr/>
          </a:p>
        </p:txBody>
      </p:sp>
      <p:pic>
        <p:nvPicPr>
          <p:cNvPr id="68" name="Google Shape;68;p14"/>
          <p:cNvPicPr preferRelativeResize="0"/>
          <p:nvPr/>
        </p:nvPicPr>
        <p:blipFill>
          <a:blip r:embed="rId3">
            <a:alphaModFix/>
          </a:blip>
          <a:stretch>
            <a:fillRect/>
          </a:stretch>
        </p:blipFill>
        <p:spPr>
          <a:xfrm>
            <a:off x="3790075" y="2892475"/>
            <a:ext cx="2724150" cy="16764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Source</a:t>
            </a:r>
            <a:endParaRPr/>
          </a:p>
        </p:txBody>
      </p:sp>
      <p:sp>
        <p:nvSpPr>
          <p:cNvPr id="74" name="Google Shape;74;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Data set was originally created from real medical records of 5,110 patients in Bangladesh, collected by McKinsey &amp; Company.</a:t>
            </a:r>
            <a:endParaRPr/>
          </a:p>
          <a:p>
            <a:pPr indent="0" lvl="0" marL="0" rtl="0" algn="l">
              <a:spcBef>
                <a:spcPts val="1200"/>
              </a:spcBef>
              <a:spcAft>
                <a:spcPts val="0"/>
              </a:spcAft>
              <a:buNone/>
            </a:pPr>
            <a:r>
              <a:rPr lang="en"/>
              <a:t>Only 30 percent of the full dataset was released publicly; the remaining 70 percent is private.</a:t>
            </a:r>
            <a:endParaRPr/>
          </a:p>
          <a:p>
            <a:pPr indent="0" lvl="0" marL="0" rtl="0" algn="l">
              <a:spcBef>
                <a:spcPts val="1200"/>
              </a:spcBef>
              <a:spcAft>
                <a:spcPts val="1200"/>
              </a:spcAft>
              <a:buNone/>
            </a:pPr>
            <a:r>
              <a:rPr lang="en"/>
              <a:t>The dataset was later analyzed and referenced in a 2024 Scientific Reports study on stroke prediction (Hassan et al., 2024).</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Research Question</a:t>
            </a:r>
            <a:endParaRPr/>
          </a:p>
        </p:txBody>
      </p:sp>
      <p:sp>
        <p:nvSpPr>
          <p:cNvPr id="80" name="Google Shape;80;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Among adults aged 50–80 in Bangladesh, what is the combined effect of age, gender, marital status, residence type, work type, smoking status, hypertension, heart disease, BMI, and average glucose levels on predicting  brain stroke occurrence, and which of these factors contributes most strongly to stroke risk?</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Hypothesis</a:t>
            </a:r>
            <a:endParaRPr/>
          </a:p>
        </p:txBody>
      </p:sp>
      <p:sp>
        <p:nvSpPr>
          <p:cNvPr id="86" name="Google Shape;86;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t>Null Hypothesis (H₀)</a:t>
            </a:r>
            <a:endParaRPr/>
          </a:p>
          <a:p>
            <a:pPr indent="0" lvl="0" marL="0" rtl="0" algn="l">
              <a:spcBef>
                <a:spcPts val="1200"/>
              </a:spcBef>
              <a:spcAft>
                <a:spcPts val="0"/>
              </a:spcAft>
              <a:buNone/>
            </a:pPr>
            <a:r>
              <a:rPr lang="en"/>
              <a:t>There is no statistically significant association between age, gender, marital status, residence type, work type, smoking status, hypertension, heart disease, body mass index, and average glucose level and the occurrence of stroke among adults aged 50 to 80.</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Alternative Hypothesis (H₁)</a:t>
            </a:r>
            <a:endParaRPr/>
          </a:p>
          <a:p>
            <a:pPr indent="0" lvl="0" marL="0" rtl="0" algn="l">
              <a:spcBef>
                <a:spcPts val="1200"/>
              </a:spcBef>
              <a:spcAft>
                <a:spcPts val="0"/>
              </a:spcAft>
              <a:buNone/>
            </a:pPr>
            <a:r>
              <a:rPr lang="en"/>
              <a:t>There is a statistically significant association between one or more of the following variables age, gender, marital status, residence type, work type, smoking status, hypertension, heart disease, body mass index, and average glucose level and the occurrence of stroke among adults aged 50 to 80.</a:t>
            </a:r>
            <a:endParaRPr/>
          </a:p>
          <a:p>
            <a:pPr indent="0" lvl="0" marL="0" rtl="0" algn="l">
              <a:spcBef>
                <a:spcPts val="120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Project Goal</a:t>
            </a:r>
            <a:endParaRPr/>
          </a:p>
        </p:txBody>
      </p:sp>
      <p:sp>
        <p:nvSpPr>
          <p:cNvPr id="92" name="Google Shape;92;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Workflow</a:t>
            </a:r>
            <a:endParaRPr/>
          </a:p>
          <a:p>
            <a:pPr indent="-342900" lvl="0" marL="457200" rtl="0" algn="l">
              <a:spcBef>
                <a:spcPts val="1200"/>
              </a:spcBef>
              <a:spcAft>
                <a:spcPts val="0"/>
              </a:spcAft>
              <a:buSzPts val="1800"/>
              <a:buAutoNum type="arabicPeriod"/>
            </a:pPr>
            <a:r>
              <a:rPr lang="en"/>
              <a:t>Define Research Question</a:t>
            </a:r>
            <a:endParaRPr/>
          </a:p>
          <a:p>
            <a:pPr indent="-342900" lvl="0" marL="457200" rtl="0" algn="l">
              <a:spcBef>
                <a:spcPts val="0"/>
              </a:spcBef>
              <a:spcAft>
                <a:spcPts val="0"/>
              </a:spcAft>
              <a:buSzPts val="1800"/>
              <a:buAutoNum type="arabicPeriod"/>
            </a:pPr>
            <a:r>
              <a:rPr lang="en"/>
              <a:t>SQL + Python Data Cleaning (remove outliers, handle missing values)</a:t>
            </a:r>
            <a:endParaRPr/>
          </a:p>
          <a:p>
            <a:pPr indent="-342900" lvl="0" marL="457200" rtl="0" algn="l">
              <a:spcBef>
                <a:spcPts val="0"/>
              </a:spcBef>
              <a:spcAft>
                <a:spcPts val="0"/>
              </a:spcAft>
              <a:buSzPts val="1800"/>
              <a:buAutoNum type="arabicPeriod"/>
            </a:pPr>
            <a:r>
              <a:rPr lang="en"/>
              <a:t>Exploratory Analysis</a:t>
            </a:r>
            <a:endParaRPr/>
          </a:p>
          <a:p>
            <a:pPr indent="-342900" lvl="0" marL="457200" rtl="0" algn="l">
              <a:spcBef>
                <a:spcPts val="0"/>
              </a:spcBef>
              <a:spcAft>
                <a:spcPts val="0"/>
              </a:spcAft>
              <a:buSzPts val="1800"/>
              <a:buAutoNum type="arabicPeriod"/>
            </a:pPr>
            <a:r>
              <a:rPr lang="en"/>
              <a:t>Statistical Tests (t-tests, chi-square, normality tests)</a:t>
            </a:r>
            <a:endParaRPr/>
          </a:p>
          <a:p>
            <a:pPr indent="-342900" lvl="0" marL="457200" rtl="0" algn="l">
              <a:spcBef>
                <a:spcPts val="0"/>
              </a:spcBef>
              <a:spcAft>
                <a:spcPts val="0"/>
              </a:spcAft>
              <a:buSzPts val="1800"/>
              <a:buAutoNum type="arabicPeriod"/>
            </a:pPr>
            <a:r>
              <a:rPr lang="en"/>
              <a:t>Train/Test Split (70/30)</a:t>
            </a:r>
            <a:endParaRPr/>
          </a:p>
          <a:p>
            <a:pPr indent="-342900" lvl="0" marL="457200" rtl="0" algn="l">
              <a:spcBef>
                <a:spcPts val="0"/>
              </a:spcBef>
              <a:spcAft>
                <a:spcPts val="0"/>
              </a:spcAft>
              <a:buSzPts val="1800"/>
              <a:buAutoNum type="arabicPeriod"/>
            </a:pPr>
            <a:r>
              <a:rPr lang="en"/>
              <a:t>SMOTE Oversampling (Training Only)</a:t>
            </a:r>
            <a:endParaRPr/>
          </a:p>
          <a:p>
            <a:pPr indent="-342900" lvl="0" marL="457200" rtl="0" algn="l">
              <a:spcBef>
                <a:spcPts val="0"/>
              </a:spcBef>
              <a:spcAft>
                <a:spcPts val="0"/>
              </a:spcAft>
              <a:buSzPts val="1800"/>
              <a:buAutoNum type="arabicPeriod"/>
            </a:pPr>
            <a:r>
              <a:rPr lang="en"/>
              <a:t>Modeling: Logistic Regression &amp; Random Forest</a:t>
            </a:r>
            <a:endParaRPr/>
          </a:p>
          <a:p>
            <a:pPr indent="-342900" lvl="0" marL="457200" rtl="0" algn="l">
              <a:spcBef>
                <a:spcPts val="0"/>
              </a:spcBef>
              <a:spcAft>
                <a:spcPts val="0"/>
              </a:spcAft>
              <a:buSzPts val="1800"/>
              <a:buAutoNum type="arabicPeriod"/>
            </a:pPr>
            <a:r>
              <a:rPr lang="en"/>
              <a:t>Evaluation: Confusion matrices, ROC curves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Research Design</a:t>
            </a:r>
            <a:endParaRPr/>
          </a:p>
        </p:txBody>
      </p:sp>
      <p:sp>
        <p:nvSpPr>
          <p:cNvPr id="98" name="Google Shape;98;p19"/>
          <p:cNvSpPr txBox="1"/>
          <p:nvPr>
            <p:ph idx="1" type="body"/>
          </p:nvPr>
        </p:nvSpPr>
        <p:spPr>
          <a:xfrm>
            <a:off x="311700" y="1017725"/>
            <a:ext cx="85206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1400"/>
              </a:spcBef>
              <a:spcAft>
                <a:spcPts val="0"/>
              </a:spcAft>
              <a:buNone/>
            </a:pPr>
            <a:r>
              <a:rPr lang="en" sz="1300"/>
              <a:t>Population &amp; Outcome</a:t>
            </a:r>
            <a:endParaRPr sz="1300"/>
          </a:p>
          <a:p>
            <a:pPr indent="-311150" lvl="0" marL="457200" rtl="0" algn="l">
              <a:lnSpc>
                <a:spcPct val="100000"/>
              </a:lnSpc>
              <a:spcBef>
                <a:spcPts val="1200"/>
              </a:spcBef>
              <a:spcAft>
                <a:spcPts val="0"/>
              </a:spcAft>
              <a:buClr>
                <a:schemeClr val="accent3"/>
              </a:buClr>
              <a:buSzPts val="1300"/>
              <a:buFont typeface="Arial"/>
              <a:buChar char="●"/>
            </a:pPr>
            <a:r>
              <a:rPr lang="en" sz="1300"/>
              <a:t>Adults age 50–80</a:t>
            </a:r>
            <a:br>
              <a:rPr lang="en" sz="1300"/>
            </a:br>
            <a:endParaRPr sz="1300"/>
          </a:p>
          <a:p>
            <a:pPr indent="-311150" lvl="0" marL="457200" rtl="0" algn="l">
              <a:lnSpc>
                <a:spcPct val="100000"/>
              </a:lnSpc>
              <a:spcBef>
                <a:spcPts val="0"/>
              </a:spcBef>
              <a:spcAft>
                <a:spcPts val="0"/>
              </a:spcAft>
              <a:buClr>
                <a:schemeClr val="accent3"/>
              </a:buClr>
              <a:buSzPts val="1300"/>
              <a:buFont typeface="Arial"/>
              <a:buChar char="●"/>
            </a:pPr>
            <a:r>
              <a:rPr lang="en" sz="1300"/>
              <a:t>Outcome: Stroke vs. No Stroke</a:t>
            </a:r>
            <a:endParaRPr sz="1300"/>
          </a:p>
          <a:p>
            <a:pPr indent="0" lvl="0" marL="0" rtl="0" algn="l">
              <a:lnSpc>
                <a:spcPct val="100000"/>
              </a:lnSpc>
              <a:spcBef>
                <a:spcPts val="1400"/>
              </a:spcBef>
              <a:spcAft>
                <a:spcPts val="0"/>
              </a:spcAft>
              <a:buNone/>
            </a:pPr>
            <a:r>
              <a:rPr lang="en" sz="1300"/>
              <a:t>Predictors</a:t>
            </a:r>
            <a:endParaRPr sz="1300"/>
          </a:p>
          <a:p>
            <a:pPr indent="-311150" lvl="0" marL="457200" rtl="0" algn="l">
              <a:lnSpc>
                <a:spcPct val="100000"/>
              </a:lnSpc>
              <a:spcBef>
                <a:spcPts val="1200"/>
              </a:spcBef>
              <a:spcAft>
                <a:spcPts val="0"/>
              </a:spcAft>
              <a:buClr>
                <a:schemeClr val="accent3"/>
              </a:buClr>
              <a:buSzPts val="1300"/>
              <a:buFont typeface="Proxima Nova"/>
              <a:buChar char="●"/>
            </a:pPr>
            <a:r>
              <a:rPr lang="en" sz="1300"/>
              <a:t>Age, BMI, Avg Glucose, Hypertension, Heart Disease, Smoking, Gender, Work Type, Residence</a:t>
            </a:r>
            <a:endParaRPr sz="1300"/>
          </a:p>
          <a:p>
            <a:pPr indent="0" lvl="0" marL="0" rtl="0" algn="l">
              <a:lnSpc>
                <a:spcPct val="100000"/>
              </a:lnSpc>
              <a:spcBef>
                <a:spcPts val="1400"/>
              </a:spcBef>
              <a:spcAft>
                <a:spcPts val="0"/>
              </a:spcAft>
              <a:buNone/>
            </a:pPr>
            <a:r>
              <a:rPr lang="en" sz="1300"/>
              <a:t>Key Design Choices</a:t>
            </a:r>
            <a:endParaRPr sz="1300"/>
          </a:p>
          <a:p>
            <a:pPr indent="-311150" lvl="0" marL="457200" rtl="0" algn="l">
              <a:lnSpc>
                <a:spcPct val="100000"/>
              </a:lnSpc>
              <a:spcBef>
                <a:spcPts val="1200"/>
              </a:spcBef>
              <a:spcAft>
                <a:spcPts val="0"/>
              </a:spcAft>
              <a:buClr>
                <a:schemeClr val="accent3"/>
              </a:buClr>
              <a:buSzPts val="1300"/>
              <a:buFont typeface="Arial"/>
              <a:buChar char="●"/>
            </a:pPr>
            <a:r>
              <a:rPr lang="en" sz="1300"/>
              <a:t>Highly imbalanced dataset → Needed oversampling</a:t>
            </a:r>
            <a:br>
              <a:rPr lang="en" sz="1300"/>
            </a:br>
            <a:endParaRPr sz="1300"/>
          </a:p>
          <a:p>
            <a:pPr indent="-311150" lvl="0" marL="457200" rtl="0" algn="l">
              <a:lnSpc>
                <a:spcPct val="100000"/>
              </a:lnSpc>
              <a:spcBef>
                <a:spcPts val="0"/>
              </a:spcBef>
              <a:spcAft>
                <a:spcPts val="0"/>
              </a:spcAft>
              <a:buClr>
                <a:schemeClr val="accent3"/>
              </a:buClr>
              <a:buSzPts val="1300"/>
              <a:buFont typeface="Arial"/>
              <a:buChar char="●"/>
            </a:pPr>
            <a:r>
              <a:rPr lang="en" sz="1300"/>
              <a:t>All predictors non-normal (Shapiro–Wilk p &lt; 10⁻²⁸) → ML methods appropriate</a:t>
            </a:r>
            <a:br>
              <a:rPr lang="en" sz="1300"/>
            </a:br>
            <a:endParaRPr sz="1300"/>
          </a:p>
          <a:p>
            <a:pPr indent="-311150" lvl="0" marL="457200" rtl="0" algn="l">
              <a:lnSpc>
                <a:spcPct val="100000"/>
              </a:lnSpc>
              <a:spcBef>
                <a:spcPts val="0"/>
              </a:spcBef>
              <a:spcAft>
                <a:spcPts val="0"/>
              </a:spcAft>
              <a:buClr>
                <a:schemeClr val="accent3"/>
              </a:buClr>
              <a:buSzPts val="1300"/>
              <a:buFont typeface="Proxima Nova"/>
              <a:buChar char="●"/>
            </a:pPr>
            <a:r>
              <a:rPr lang="en" sz="1300"/>
              <a:t>SMOTE applied only to training set</a:t>
            </a:r>
            <a:br>
              <a:rPr lang="en" sz="1300"/>
            </a:br>
            <a:endParaRPr sz="1300"/>
          </a:p>
          <a:p>
            <a:pPr indent="-311150" lvl="0" marL="457200" rtl="0" algn="l">
              <a:lnSpc>
                <a:spcPct val="100000"/>
              </a:lnSpc>
              <a:spcBef>
                <a:spcPts val="0"/>
              </a:spcBef>
              <a:spcAft>
                <a:spcPts val="0"/>
              </a:spcAft>
              <a:buClr>
                <a:schemeClr val="accent3"/>
              </a:buClr>
              <a:buSzPts val="1300"/>
              <a:buFont typeface="Arial"/>
              <a:buChar char="●"/>
            </a:pPr>
            <a:r>
              <a:rPr lang="en" sz="1300"/>
              <a:t>Test set left unchanged to preserve real-world distribution</a:t>
            </a:r>
            <a:endParaRPr sz="13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0"/>
          <p:cNvSpPr txBox="1"/>
          <p:nvPr>
            <p:ph type="title"/>
          </p:nvPr>
        </p:nvSpPr>
        <p:spPr>
          <a:xfrm>
            <a:off x="191675" y="1106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 SQL Data Cleaning</a:t>
            </a:r>
            <a:endParaRPr/>
          </a:p>
        </p:txBody>
      </p:sp>
      <p:sp>
        <p:nvSpPr>
          <p:cNvPr id="104" name="Google Shape;104;p20"/>
          <p:cNvSpPr txBox="1"/>
          <p:nvPr>
            <p:ph idx="1" type="body"/>
          </p:nvPr>
        </p:nvSpPr>
        <p:spPr>
          <a:xfrm>
            <a:off x="72050" y="2871025"/>
            <a:ext cx="3478200" cy="2180400"/>
          </a:xfrm>
          <a:prstGeom prst="rect">
            <a:avLst/>
          </a:prstGeom>
        </p:spPr>
        <p:txBody>
          <a:bodyPr anchorCtr="0" anchor="t" bIns="91425" lIns="91425" spcFirstLastPara="1" rIns="91425" wrap="square" tIns="91425">
            <a:normAutofit/>
          </a:bodyPr>
          <a:lstStyle/>
          <a:p>
            <a:pPr indent="0" lvl="0" marL="0" rtl="0" algn="l">
              <a:spcBef>
                <a:spcPts val="2400"/>
              </a:spcBef>
              <a:spcAft>
                <a:spcPts val="0"/>
              </a:spcAft>
              <a:buNone/>
            </a:pPr>
            <a:r>
              <a:rPr lang="en" sz="1300"/>
              <a:t>SQL Data Cleaning (Screenshot Slide) (Shown Above)</a:t>
            </a:r>
            <a:endParaRPr sz="1300"/>
          </a:p>
          <a:p>
            <a:pPr indent="0" lvl="0" marL="0" rtl="0" algn="l">
              <a:spcBef>
                <a:spcPts val="1400"/>
              </a:spcBef>
              <a:spcAft>
                <a:spcPts val="0"/>
              </a:spcAft>
              <a:buNone/>
            </a:pPr>
            <a:r>
              <a:rPr lang="en" sz="1300"/>
              <a:t>SQL Cleaning Steps Performed</a:t>
            </a:r>
            <a:endParaRPr sz="1300"/>
          </a:p>
          <a:p>
            <a:pPr indent="0" lvl="0" marL="0" rtl="0" algn="l">
              <a:spcBef>
                <a:spcPts val="1200"/>
              </a:spcBef>
              <a:spcAft>
                <a:spcPts val="1200"/>
              </a:spcAft>
              <a:buNone/>
            </a:pPr>
            <a:r>
              <a:rPr lang="en" sz="1300"/>
              <a:t>• Removed age outliers (kept ages 50–80)</a:t>
            </a:r>
            <a:br>
              <a:rPr lang="en" sz="1300"/>
            </a:br>
            <a:r>
              <a:rPr lang="en" sz="1300"/>
              <a:t> • Removed NULL BMI values</a:t>
            </a:r>
            <a:br>
              <a:rPr lang="en" sz="1300"/>
            </a:br>
            <a:r>
              <a:rPr lang="en" sz="1300"/>
              <a:t> • Deduplicated rows (SELECT DISTINCT)</a:t>
            </a:r>
            <a:br>
              <a:rPr lang="en" sz="1300"/>
            </a:br>
            <a:r>
              <a:rPr lang="en" sz="1300"/>
              <a:t> • Created cleaned table: stroke_final</a:t>
            </a:r>
            <a:endParaRPr/>
          </a:p>
        </p:txBody>
      </p:sp>
      <p:pic>
        <p:nvPicPr>
          <p:cNvPr id="105" name="Google Shape;105;p20"/>
          <p:cNvPicPr preferRelativeResize="0"/>
          <p:nvPr/>
        </p:nvPicPr>
        <p:blipFill>
          <a:blip r:embed="rId3">
            <a:alphaModFix/>
          </a:blip>
          <a:stretch>
            <a:fillRect/>
          </a:stretch>
        </p:blipFill>
        <p:spPr>
          <a:xfrm>
            <a:off x="191675" y="644525"/>
            <a:ext cx="7827317" cy="2226500"/>
          </a:xfrm>
          <a:prstGeom prst="rect">
            <a:avLst/>
          </a:prstGeom>
          <a:noFill/>
          <a:ln>
            <a:noFill/>
          </a:ln>
        </p:spPr>
      </p:pic>
      <p:pic>
        <p:nvPicPr>
          <p:cNvPr id="106" name="Google Shape;106;p20"/>
          <p:cNvPicPr preferRelativeResize="0"/>
          <p:nvPr/>
        </p:nvPicPr>
        <p:blipFill>
          <a:blip r:embed="rId4">
            <a:alphaModFix/>
          </a:blip>
          <a:stretch>
            <a:fillRect/>
          </a:stretch>
        </p:blipFill>
        <p:spPr>
          <a:xfrm>
            <a:off x="3675700" y="2963425"/>
            <a:ext cx="2171700" cy="885825"/>
          </a:xfrm>
          <a:prstGeom prst="rect">
            <a:avLst/>
          </a:prstGeom>
          <a:noFill/>
          <a:ln>
            <a:noFill/>
          </a:ln>
        </p:spPr>
      </p:pic>
      <p:pic>
        <p:nvPicPr>
          <p:cNvPr id="107" name="Google Shape;107;p20"/>
          <p:cNvPicPr preferRelativeResize="0"/>
          <p:nvPr/>
        </p:nvPicPr>
        <p:blipFill>
          <a:blip r:embed="rId5">
            <a:alphaModFix/>
          </a:blip>
          <a:stretch>
            <a:fillRect/>
          </a:stretch>
        </p:blipFill>
        <p:spPr>
          <a:xfrm>
            <a:off x="6171250" y="2963425"/>
            <a:ext cx="2066925" cy="428625"/>
          </a:xfrm>
          <a:prstGeom prst="rect">
            <a:avLst/>
          </a:prstGeom>
          <a:noFill/>
          <a:ln>
            <a:noFill/>
          </a:ln>
        </p:spPr>
      </p:pic>
      <p:pic>
        <p:nvPicPr>
          <p:cNvPr id="108" name="Google Shape;108;p20"/>
          <p:cNvPicPr preferRelativeResize="0"/>
          <p:nvPr/>
        </p:nvPicPr>
        <p:blipFill>
          <a:blip r:embed="rId6">
            <a:alphaModFix/>
          </a:blip>
          <a:stretch>
            <a:fillRect/>
          </a:stretch>
        </p:blipFill>
        <p:spPr>
          <a:xfrm>
            <a:off x="3675700" y="4044525"/>
            <a:ext cx="2190750" cy="6191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Structure</a:t>
            </a:r>
            <a:endParaRPr/>
          </a:p>
        </p:txBody>
      </p:sp>
      <p:sp>
        <p:nvSpPr>
          <p:cNvPr id="114" name="Google Shape;114;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Each row represents a single patient</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Each column represents a variable (feature)</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Features (X) include age, hypertension, glucose, BMI, etc.</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The target variable (Y) is stroke (yes or no)</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Case Group and Control Group Update</a:t>
            </a:r>
            <a:endParaRPr/>
          </a:p>
          <a:p>
            <a:pPr indent="0" lvl="0" marL="0" rtl="0" algn="l">
              <a:spcBef>
                <a:spcPts val="0"/>
              </a:spcBef>
              <a:spcAft>
                <a:spcPts val="0"/>
              </a:spcAft>
              <a:buNone/>
            </a:pPr>
            <a:r>
              <a:t/>
            </a:r>
            <a:endParaRPr/>
          </a:p>
        </p:txBody>
      </p:sp>
      <p:sp>
        <p:nvSpPr>
          <p:cNvPr id="120" name="Google Shape;120;p22"/>
          <p:cNvSpPr txBox="1"/>
          <p:nvPr>
            <p:ph idx="1" type="body"/>
          </p:nvPr>
        </p:nvSpPr>
        <p:spPr>
          <a:xfrm>
            <a:off x="311700" y="1175900"/>
            <a:ext cx="6103800" cy="3687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Original imbalance: </a:t>
            </a:r>
            <a:endParaRPr/>
          </a:p>
          <a:p>
            <a:pPr indent="0" lvl="0" marL="0" rtl="0" algn="l">
              <a:spcBef>
                <a:spcPts val="1200"/>
              </a:spcBef>
              <a:spcAft>
                <a:spcPts val="0"/>
              </a:spcAft>
              <a:buNone/>
            </a:pPr>
            <a:r>
              <a:rPr lang="en"/>
              <a:t>1888 non-stroke vs. 206 stroke</a:t>
            </a:r>
            <a:endParaRPr/>
          </a:p>
          <a:p>
            <a:pPr indent="0" lvl="0" marL="0" rtl="0" algn="l">
              <a:spcBef>
                <a:spcPts val="1200"/>
              </a:spcBef>
              <a:spcAft>
                <a:spcPts val="0"/>
              </a:spcAft>
              <a:buNone/>
            </a:pPr>
            <a:r>
              <a:rPr lang="en"/>
              <a:t>Oversampling used to balance the dataset</a:t>
            </a:r>
            <a:endParaRPr/>
          </a:p>
          <a:p>
            <a:pPr indent="0" lvl="0" marL="0" rtl="0" algn="l">
              <a:spcBef>
                <a:spcPts val="1200"/>
              </a:spcBef>
              <a:spcAft>
                <a:spcPts val="0"/>
              </a:spcAft>
              <a:buNone/>
            </a:pPr>
            <a:r>
              <a:rPr lang="en"/>
              <a:t>Stroke and non-stroke counts matched for later modeling</a:t>
            </a:r>
            <a:endParaRPr/>
          </a:p>
          <a:p>
            <a:pPr indent="0" lvl="0" marL="0" rtl="0" algn="l">
              <a:spcBef>
                <a:spcPts val="1200"/>
              </a:spcBef>
              <a:spcAft>
                <a:spcPts val="1200"/>
              </a:spcAft>
              <a:buNone/>
            </a:pPr>
            <a:r>
              <a:rPr lang="en"/>
              <a:t>Ensures minority group is not underrepresented</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3"/>
          <p:cNvSpPr txBox="1"/>
          <p:nvPr>
            <p:ph type="title"/>
          </p:nvPr>
        </p:nvSpPr>
        <p:spPr>
          <a:xfrm>
            <a:off x="311700" y="1707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Age</a:t>
            </a:r>
            <a:endParaRPr/>
          </a:p>
        </p:txBody>
      </p:sp>
      <p:sp>
        <p:nvSpPr>
          <p:cNvPr id="126" name="Google Shape;126;p23"/>
          <p:cNvSpPr txBox="1"/>
          <p:nvPr>
            <p:ph idx="1" type="body"/>
          </p:nvPr>
        </p:nvSpPr>
        <p:spPr>
          <a:xfrm>
            <a:off x="158975" y="717600"/>
            <a:ext cx="3307800" cy="3708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Stroke patients are older on average.</a:t>
            </a:r>
            <a:endParaRPr/>
          </a:p>
          <a:p>
            <a:pPr indent="0" lvl="0" marL="0" rtl="0" algn="l">
              <a:spcBef>
                <a:spcPts val="1200"/>
              </a:spcBef>
              <a:spcAft>
                <a:spcPts val="0"/>
              </a:spcAft>
              <a:buNone/>
            </a:pPr>
            <a:r>
              <a:rPr lang="en"/>
              <a:t>Median age: 71 (stroke) vs 62 (no stroke)</a:t>
            </a:r>
            <a:endParaRPr/>
          </a:p>
          <a:p>
            <a:pPr indent="0" lvl="0" marL="0" rtl="0" algn="l">
              <a:spcBef>
                <a:spcPts val="1200"/>
              </a:spcBef>
              <a:spcAft>
                <a:spcPts val="0"/>
              </a:spcAft>
              <a:buNone/>
            </a:pPr>
            <a:r>
              <a:rPr lang="en"/>
              <a:t>Stroke cases have a higher overall age range and start at older ages.</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T-Test Result:</a:t>
            </a:r>
            <a:endParaRPr/>
          </a:p>
        </p:txBody>
      </p:sp>
      <p:pic>
        <p:nvPicPr>
          <p:cNvPr id="127" name="Google Shape;127;p23"/>
          <p:cNvPicPr preferRelativeResize="0"/>
          <p:nvPr/>
        </p:nvPicPr>
        <p:blipFill>
          <a:blip r:embed="rId3">
            <a:alphaModFix/>
          </a:blip>
          <a:stretch>
            <a:fillRect/>
          </a:stretch>
        </p:blipFill>
        <p:spPr>
          <a:xfrm>
            <a:off x="3466766" y="227450"/>
            <a:ext cx="5580884" cy="4123851"/>
          </a:xfrm>
          <a:prstGeom prst="rect">
            <a:avLst/>
          </a:prstGeom>
          <a:noFill/>
          <a:ln>
            <a:noFill/>
          </a:ln>
        </p:spPr>
      </p:pic>
      <p:pic>
        <p:nvPicPr>
          <p:cNvPr id="128" name="Google Shape;128;p23"/>
          <p:cNvPicPr preferRelativeResize="0"/>
          <p:nvPr/>
        </p:nvPicPr>
        <p:blipFill>
          <a:blip r:embed="rId4">
            <a:alphaModFix/>
          </a:blip>
          <a:stretch>
            <a:fillRect/>
          </a:stretch>
        </p:blipFill>
        <p:spPr>
          <a:xfrm>
            <a:off x="158975" y="4568876"/>
            <a:ext cx="3590925" cy="209550"/>
          </a:xfrm>
          <a:prstGeom prst="rect">
            <a:avLst/>
          </a:prstGeom>
          <a:noFill/>
          <a:ln>
            <a:noFill/>
          </a:ln>
        </p:spPr>
      </p:pic>
      <p:pic>
        <p:nvPicPr>
          <p:cNvPr id="129" name="Google Shape;129;p23"/>
          <p:cNvPicPr preferRelativeResize="0"/>
          <p:nvPr/>
        </p:nvPicPr>
        <p:blipFill>
          <a:blip r:embed="rId5">
            <a:alphaModFix/>
          </a:blip>
          <a:stretch>
            <a:fillRect/>
          </a:stretch>
        </p:blipFill>
        <p:spPr>
          <a:xfrm>
            <a:off x="1786226" y="3345450"/>
            <a:ext cx="1358950" cy="8362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Gender</a:t>
            </a:r>
            <a:endParaRPr/>
          </a:p>
        </p:txBody>
      </p:sp>
      <p:sp>
        <p:nvSpPr>
          <p:cNvPr id="135" name="Google Shape;135;p24"/>
          <p:cNvSpPr txBox="1"/>
          <p:nvPr>
            <p:ph idx="1" type="body"/>
          </p:nvPr>
        </p:nvSpPr>
        <p:spPr>
          <a:xfrm>
            <a:off x="311700" y="1152475"/>
            <a:ext cx="29373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Stroke rates remain similar across genders</a:t>
            </a:r>
            <a:br>
              <a:rPr lang="en"/>
            </a:br>
            <a:endParaRPr/>
          </a:p>
          <a:p>
            <a:pPr indent="0" lvl="0" marL="0" rtl="0" algn="l">
              <a:spcBef>
                <a:spcPts val="1200"/>
              </a:spcBef>
              <a:spcAft>
                <a:spcPts val="0"/>
              </a:spcAft>
              <a:buNone/>
            </a:pPr>
            <a:r>
              <a:rPr lang="en"/>
              <a:t>No clear association within any age group</a:t>
            </a:r>
            <a:br>
              <a:rPr lang="en"/>
            </a:br>
            <a:endParaRPr/>
          </a:p>
          <a:p>
            <a:pPr indent="0" lvl="0" marL="0" rtl="0" algn="l">
              <a:spcBef>
                <a:spcPts val="1200"/>
              </a:spcBef>
              <a:spcAft>
                <a:spcPts val="0"/>
              </a:spcAft>
              <a:buNone/>
            </a:pPr>
            <a:r>
              <a:rPr lang="en"/>
              <a:t>Gender not a strong differentiator of stroke risk</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Chi-Square Test Result:</a:t>
            </a:r>
            <a:endParaRPr/>
          </a:p>
        </p:txBody>
      </p:sp>
      <p:pic>
        <p:nvPicPr>
          <p:cNvPr id="136" name="Google Shape;136;p24"/>
          <p:cNvPicPr preferRelativeResize="0"/>
          <p:nvPr/>
        </p:nvPicPr>
        <p:blipFill>
          <a:blip r:embed="rId3">
            <a:alphaModFix/>
          </a:blip>
          <a:stretch>
            <a:fillRect/>
          </a:stretch>
        </p:blipFill>
        <p:spPr>
          <a:xfrm>
            <a:off x="3336625" y="1152475"/>
            <a:ext cx="5698875" cy="2655675"/>
          </a:xfrm>
          <a:prstGeom prst="rect">
            <a:avLst/>
          </a:prstGeom>
          <a:noFill/>
          <a:ln>
            <a:noFill/>
          </a:ln>
        </p:spPr>
      </p:pic>
      <p:pic>
        <p:nvPicPr>
          <p:cNvPr id="137" name="Google Shape;137;p24"/>
          <p:cNvPicPr preferRelativeResize="0"/>
          <p:nvPr/>
        </p:nvPicPr>
        <p:blipFill>
          <a:blip r:embed="rId4">
            <a:alphaModFix/>
          </a:blip>
          <a:stretch>
            <a:fillRect/>
          </a:stretch>
        </p:blipFill>
        <p:spPr>
          <a:xfrm>
            <a:off x="311700" y="4509200"/>
            <a:ext cx="3657600" cy="1809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Marital Status (Ever Married)</a:t>
            </a:r>
            <a:endParaRPr/>
          </a:p>
        </p:txBody>
      </p:sp>
      <p:sp>
        <p:nvSpPr>
          <p:cNvPr id="143" name="Google Shape;143;p25"/>
          <p:cNvSpPr txBox="1"/>
          <p:nvPr>
            <p:ph idx="1" type="body"/>
          </p:nvPr>
        </p:nvSpPr>
        <p:spPr>
          <a:xfrm>
            <a:off x="311700" y="1152475"/>
            <a:ext cx="2418900" cy="3365100"/>
          </a:xfrm>
          <a:prstGeom prst="rect">
            <a:avLst/>
          </a:prstGeom>
        </p:spPr>
        <p:txBody>
          <a:bodyPr anchorCtr="0" anchor="t" bIns="91425" lIns="91425" spcFirstLastPara="1" rIns="91425" wrap="square" tIns="91425">
            <a:normAutofit fontScale="77500" lnSpcReduction="10000"/>
          </a:bodyPr>
          <a:lstStyle/>
          <a:p>
            <a:pPr indent="0" lvl="0" marL="0" rtl="0" algn="l">
              <a:spcBef>
                <a:spcPts val="0"/>
              </a:spcBef>
              <a:spcAft>
                <a:spcPts val="0"/>
              </a:spcAft>
              <a:buNone/>
            </a:pPr>
            <a:r>
              <a:rPr lang="en"/>
              <a:t>Small difference between groups</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Slightly higher stroke rates in unmarried individuals</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May be influenced by age distribution</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Chi-Square Test Result:</a:t>
            </a:r>
            <a:endParaRPr/>
          </a:p>
        </p:txBody>
      </p:sp>
      <p:pic>
        <p:nvPicPr>
          <p:cNvPr id="144" name="Google Shape;144;p25"/>
          <p:cNvPicPr preferRelativeResize="0"/>
          <p:nvPr/>
        </p:nvPicPr>
        <p:blipFill>
          <a:blip r:embed="rId3">
            <a:alphaModFix/>
          </a:blip>
          <a:stretch>
            <a:fillRect/>
          </a:stretch>
        </p:blipFill>
        <p:spPr>
          <a:xfrm>
            <a:off x="3022700" y="1241375"/>
            <a:ext cx="5993849" cy="2829592"/>
          </a:xfrm>
          <a:prstGeom prst="rect">
            <a:avLst/>
          </a:prstGeom>
          <a:noFill/>
          <a:ln>
            <a:noFill/>
          </a:ln>
        </p:spPr>
      </p:pic>
      <p:pic>
        <p:nvPicPr>
          <p:cNvPr id="145" name="Google Shape;145;p25"/>
          <p:cNvPicPr preferRelativeResize="0"/>
          <p:nvPr/>
        </p:nvPicPr>
        <p:blipFill>
          <a:blip r:embed="rId4">
            <a:alphaModFix/>
          </a:blip>
          <a:stretch>
            <a:fillRect/>
          </a:stretch>
        </p:blipFill>
        <p:spPr>
          <a:xfrm>
            <a:off x="311700" y="4517567"/>
            <a:ext cx="4514850" cy="2286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Residence Type</a:t>
            </a:r>
            <a:endParaRPr/>
          </a:p>
        </p:txBody>
      </p:sp>
      <p:sp>
        <p:nvSpPr>
          <p:cNvPr id="151" name="Google Shape;151;p26"/>
          <p:cNvSpPr txBox="1"/>
          <p:nvPr>
            <p:ph idx="1" type="body"/>
          </p:nvPr>
        </p:nvSpPr>
        <p:spPr>
          <a:xfrm>
            <a:off x="311700" y="1152475"/>
            <a:ext cx="26763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Urban vs rural groups show similar stroke rates</a:t>
            </a:r>
            <a:br>
              <a:rPr lang="en"/>
            </a:br>
            <a:endParaRPr/>
          </a:p>
          <a:p>
            <a:pPr indent="0" lvl="0" marL="0" rtl="0" algn="l">
              <a:spcBef>
                <a:spcPts val="1200"/>
              </a:spcBef>
              <a:spcAft>
                <a:spcPts val="0"/>
              </a:spcAft>
              <a:buNone/>
            </a:pPr>
            <a:r>
              <a:rPr lang="en"/>
              <a:t>No major variation across age categories</a:t>
            </a:r>
            <a:br>
              <a:rPr lang="en"/>
            </a:br>
            <a:endParaRPr/>
          </a:p>
          <a:p>
            <a:pPr indent="0" lvl="0" marL="0" rtl="0" algn="l">
              <a:spcBef>
                <a:spcPts val="1200"/>
              </a:spcBef>
              <a:spcAft>
                <a:spcPts val="0"/>
              </a:spcAft>
              <a:buNone/>
            </a:pPr>
            <a:r>
              <a:rPr lang="en"/>
              <a:t>Location not a strong predictor in this dataset</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Chi-Square Test Result:</a:t>
            </a:r>
            <a:endParaRPr/>
          </a:p>
        </p:txBody>
      </p:sp>
      <p:pic>
        <p:nvPicPr>
          <p:cNvPr id="152" name="Google Shape;152;p26"/>
          <p:cNvPicPr preferRelativeResize="0"/>
          <p:nvPr/>
        </p:nvPicPr>
        <p:blipFill>
          <a:blip r:embed="rId3">
            <a:alphaModFix/>
          </a:blip>
          <a:stretch>
            <a:fillRect/>
          </a:stretch>
        </p:blipFill>
        <p:spPr>
          <a:xfrm>
            <a:off x="3080225" y="1178888"/>
            <a:ext cx="5851199" cy="2785730"/>
          </a:xfrm>
          <a:prstGeom prst="rect">
            <a:avLst/>
          </a:prstGeom>
          <a:noFill/>
          <a:ln>
            <a:noFill/>
          </a:ln>
        </p:spPr>
      </p:pic>
      <p:pic>
        <p:nvPicPr>
          <p:cNvPr id="153" name="Google Shape;153;p26"/>
          <p:cNvPicPr preferRelativeResize="0"/>
          <p:nvPr/>
        </p:nvPicPr>
        <p:blipFill>
          <a:blip r:embed="rId4">
            <a:alphaModFix/>
          </a:blip>
          <a:stretch>
            <a:fillRect/>
          </a:stretch>
        </p:blipFill>
        <p:spPr>
          <a:xfrm>
            <a:off x="311700" y="4568868"/>
            <a:ext cx="4591050" cy="1809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Work Type</a:t>
            </a:r>
            <a:endParaRPr/>
          </a:p>
        </p:txBody>
      </p:sp>
      <p:sp>
        <p:nvSpPr>
          <p:cNvPr id="159" name="Google Shape;159;p27"/>
          <p:cNvSpPr txBox="1"/>
          <p:nvPr>
            <p:ph idx="1" type="body"/>
          </p:nvPr>
        </p:nvSpPr>
        <p:spPr>
          <a:xfrm>
            <a:off x="311700" y="1152475"/>
            <a:ext cx="2886900" cy="3416400"/>
          </a:xfrm>
          <a:prstGeom prst="rect">
            <a:avLst/>
          </a:prstGeom>
        </p:spPr>
        <p:txBody>
          <a:bodyPr anchorCtr="0" anchor="t" bIns="91425" lIns="91425" spcFirstLastPara="1" rIns="91425" wrap="square" tIns="91425">
            <a:normAutofit fontScale="77500" lnSpcReduction="10000"/>
          </a:bodyPr>
          <a:lstStyle/>
          <a:p>
            <a:pPr indent="0" lvl="0" marL="0" rtl="0" algn="l">
              <a:spcBef>
                <a:spcPts val="0"/>
              </a:spcBef>
              <a:spcAft>
                <a:spcPts val="0"/>
              </a:spcAft>
              <a:buNone/>
            </a:pPr>
            <a:r>
              <a:rPr lang="en"/>
              <a:t>Stroke rates similar across employment categories</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Private, self-employed, and government roles show minimal differences</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Not a strong differentiating factor</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Chi-Square Test Result:</a:t>
            </a:r>
            <a:endParaRPr/>
          </a:p>
        </p:txBody>
      </p:sp>
      <p:pic>
        <p:nvPicPr>
          <p:cNvPr id="160" name="Google Shape;160;p27"/>
          <p:cNvPicPr preferRelativeResize="0"/>
          <p:nvPr/>
        </p:nvPicPr>
        <p:blipFill>
          <a:blip r:embed="rId3">
            <a:alphaModFix/>
          </a:blip>
          <a:stretch>
            <a:fillRect/>
          </a:stretch>
        </p:blipFill>
        <p:spPr>
          <a:xfrm>
            <a:off x="3471975" y="1225160"/>
            <a:ext cx="5216549" cy="2532714"/>
          </a:xfrm>
          <a:prstGeom prst="rect">
            <a:avLst/>
          </a:prstGeom>
          <a:noFill/>
          <a:ln>
            <a:noFill/>
          </a:ln>
        </p:spPr>
      </p:pic>
      <p:pic>
        <p:nvPicPr>
          <p:cNvPr id="161" name="Google Shape;161;p27"/>
          <p:cNvPicPr preferRelativeResize="0"/>
          <p:nvPr/>
        </p:nvPicPr>
        <p:blipFill>
          <a:blip r:embed="rId4">
            <a:alphaModFix/>
          </a:blip>
          <a:stretch>
            <a:fillRect/>
          </a:stretch>
        </p:blipFill>
        <p:spPr>
          <a:xfrm>
            <a:off x="311700" y="4433199"/>
            <a:ext cx="4105275" cy="2000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Smoking Status</a:t>
            </a:r>
            <a:endParaRPr/>
          </a:p>
        </p:txBody>
      </p:sp>
      <p:sp>
        <p:nvSpPr>
          <p:cNvPr id="167" name="Google Shape;167;p28"/>
          <p:cNvSpPr txBox="1"/>
          <p:nvPr>
            <p:ph idx="1" type="body"/>
          </p:nvPr>
        </p:nvSpPr>
        <p:spPr>
          <a:xfrm>
            <a:off x="187325" y="1152475"/>
            <a:ext cx="3152700" cy="3545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t>“Smokes,” “Formerly smoked,” and “Never smoked” show comparable stroke rates</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No strong association within any age group</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Smoking not a predictive factor in this dataset</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Chi-Square Test Result:</a:t>
            </a:r>
            <a:endParaRPr/>
          </a:p>
        </p:txBody>
      </p:sp>
      <p:pic>
        <p:nvPicPr>
          <p:cNvPr id="168" name="Google Shape;168;p28"/>
          <p:cNvPicPr preferRelativeResize="0"/>
          <p:nvPr/>
        </p:nvPicPr>
        <p:blipFill>
          <a:blip r:embed="rId3">
            <a:alphaModFix/>
          </a:blip>
          <a:stretch>
            <a:fillRect/>
          </a:stretch>
        </p:blipFill>
        <p:spPr>
          <a:xfrm>
            <a:off x="3254350" y="1295400"/>
            <a:ext cx="5577949" cy="2669850"/>
          </a:xfrm>
          <a:prstGeom prst="rect">
            <a:avLst/>
          </a:prstGeom>
          <a:noFill/>
          <a:ln>
            <a:noFill/>
          </a:ln>
        </p:spPr>
      </p:pic>
      <p:pic>
        <p:nvPicPr>
          <p:cNvPr id="169" name="Google Shape;169;p28"/>
          <p:cNvPicPr preferRelativeResize="0"/>
          <p:nvPr/>
        </p:nvPicPr>
        <p:blipFill>
          <a:blip r:embed="rId4">
            <a:alphaModFix/>
          </a:blip>
          <a:stretch>
            <a:fillRect/>
          </a:stretch>
        </p:blipFill>
        <p:spPr>
          <a:xfrm>
            <a:off x="187325" y="4697875"/>
            <a:ext cx="4410075" cy="2095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Hypertension</a:t>
            </a:r>
            <a:endParaRPr/>
          </a:p>
        </p:txBody>
      </p:sp>
      <p:sp>
        <p:nvSpPr>
          <p:cNvPr id="175" name="Google Shape;175;p29"/>
          <p:cNvSpPr txBox="1"/>
          <p:nvPr>
            <p:ph idx="1" type="body"/>
          </p:nvPr>
        </p:nvSpPr>
        <p:spPr>
          <a:xfrm>
            <a:off x="311700" y="1152475"/>
            <a:ext cx="31797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t>Clear increase in stroke rates among hypertensive individuals</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Effect consistent across all age groups</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Strong health-related risk factor in this dataset</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Chi-Square Test Result:</a:t>
            </a:r>
            <a:endParaRPr/>
          </a:p>
        </p:txBody>
      </p:sp>
      <p:pic>
        <p:nvPicPr>
          <p:cNvPr id="176" name="Google Shape;176;p29"/>
          <p:cNvPicPr preferRelativeResize="0"/>
          <p:nvPr/>
        </p:nvPicPr>
        <p:blipFill>
          <a:blip r:embed="rId3">
            <a:alphaModFix/>
          </a:blip>
          <a:stretch>
            <a:fillRect/>
          </a:stretch>
        </p:blipFill>
        <p:spPr>
          <a:xfrm>
            <a:off x="3643800" y="1170125"/>
            <a:ext cx="5347799" cy="2622840"/>
          </a:xfrm>
          <a:prstGeom prst="rect">
            <a:avLst/>
          </a:prstGeom>
          <a:noFill/>
          <a:ln>
            <a:noFill/>
          </a:ln>
        </p:spPr>
      </p:pic>
      <p:pic>
        <p:nvPicPr>
          <p:cNvPr id="177" name="Google Shape;177;p29"/>
          <p:cNvPicPr preferRelativeResize="0"/>
          <p:nvPr/>
        </p:nvPicPr>
        <p:blipFill>
          <a:blip r:embed="rId4">
            <a:alphaModFix/>
          </a:blip>
          <a:stretch>
            <a:fillRect/>
          </a:stretch>
        </p:blipFill>
        <p:spPr>
          <a:xfrm>
            <a:off x="311700" y="4434015"/>
            <a:ext cx="4838700" cy="1905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Heart Disease</a:t>
            </a:r>
            <a:endParaRPr/>
          </a:p>
        </p:txBody>
      </p:sp>
      <p:sp>
        <p:nvSpPr>
          <p:cNvPr id="183" name="Google Shape;183;p30"/>
          <p:cNvSpPr txBox="1"/>
          <p:nvPr>
            <p:ph idx="1" type="body"/>
          </p:nvPr>
        </p:nvSpPr>
        <p:spPr>
          <a:xfrm>
            <a:off x="311700" y="1152475"/>
            <a:ext cx="3144600" cy="34164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0"/>
              </a:spcAft>
              <a:buNone/>
            </a:pPr>
            <a:r>
              <a:rPr lang="en"/>
              <a:t>Stroke rates significantly higher when heart disease is present</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Consistent across age categories</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Strong indicator of elevated stroke risk</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Chi-Square Test Result:</a:t>
            </a:r>
            <a:endParaRPr/>
          </a:p>
        </p:txBody>
      </p:sp>
      <p:pic>
        <p:nvPicPr>
          <p:cNvPr id="184" name="Google Shape;184;p30"/>
          <p:cNvPicPr preferRelativeResize="0"/>
          <p:nvPr/>
        </p:nvPicPr>
        <p:blipFill>
          <a:blip r:embed="rId3">
            <a:alphaModFix/>
          </a:blip>
          <a:stretch>
            <a:fillRect/>
          </a:stretch>
        </p:blipFill>
        <p:spPr>
          <a:xfrm>
            <a:off x="3456300" y="1437326"/>
            <a:ext cx="5072225" cy="2442000"/>
          </a:xfrm>
          <a:prstGeom prst="rect">
            <a:avLst/>
          </a:prstGeom>
          <a:noFill/>
          <a:ln>
            <a:noFill/>
          </a:ln>
        </p:spPr>
      </p:pic>
      <p:pic>
        <p:nvPicPr>
          <p:cNvPr id="185" name="Google Shape;185;p30"/>
          <p:cNvPicPr preferRelativeResize="0"/>
          <p:nvPr/>
        </p:nvPicPr>
        <p:blipFill>
          <a:blip r:embed="rId4">
            <a:alphaModFix/>
          </a:blip>
          <a:stretch>
            <a:fillRect/>
          </a:stretch>
        </p:blipFill>
        <p:spPr>
          <a:xfrm>
            <a:off x="311700" y="4374626"/>
            <a:ext cx="4943475" cy="2381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Glucose</a:t>
            </a:r>
            <a:endParaRPr/>
          </a:p>
        </p:txBody>
      </p:sp>
      <p:sp>
        <p:nvSpPr>
          <p:cNvPr id="191" name="Google Shape;191;p31"/>
          <p:cNvSpPr txBox="1"/>
          <p:nvPr>
            <p:ph idx="1" type="body"/>
          </p:nvPr>
        </p:nvSpPr>
        <p:spPr>
          <a:xfrm>
            <a:off x="311700" y="1152475"/>
            <a:ext cx="30627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Combined effect strongly differentiates stroke risk</a:t>
            </a:r>
            <a:br>
              <a:rPr lang="en"/>
            </a:br>
            <a:endParaRPr/>
          </a:p>
          <a:p>
            <a:pPr indent="0" lvl="0" marL="0" rtl="0" algn="l">
              <a:spcBef>
                <a:spcPts val="1200"/>
              </a:spcBef>
              <a:spcAft>
                <a:spcPts val="0"/>
              </a:spcAft>
              <a:buNone/>
            </a:pPr>
            <a:r>
              <a:rPr lang="en"/>
              <a:t>Older adults with higher glucose show elevated risk</a:t>
            </a:r>
            <a:br>
              <a:rPr lang="en"/>
            </a:br>
            <a:endParaRPr/>
          </a:p>
          <a:p>
            <a:pPr indent="0" lvl="0" marL="0" rtl="0" algn="l">
              <a:spcBef>
                <a:spcPts val="1200"/>
              </a:spcBef>
              <a:spcAft>
                <a:spcPts val="0"/>
              </a:spcAft>
              <a:buNone/>
            </a:pPr>
            <a:r>
              <a:rPr lang="en"/>
              <a:t>Interaction feature adds valuable insight into severity</a:t>
            </a:r>
            <a:endParaRPr/>
          </a:p>
          <a:p>
            <a:pPr indent="0" lvl="0" marL="0" rtl="0" algn="l">
              <a:spcBef>
                <a:spcPts val="1200"/>
              </a:spcBef>
              <a:spcAft>
                <a:spcPts val="1200"/>
              </a:spcAft>
              <a:buNone/>
            </a:pPr>
            <a:r>
              <a:rPr lang="en"/>
              <a:t>T-Test Result:</a:t>
            </a:r>
            <a:endParaRPr/>
          </a:p>
        </p:txBody>
      </p:sp>
      <p:pic>
        <p:nvPicPr>
          <p:cNvPr id="192" name="Google Shape;192;p31"/>
          <p:cNvPicPr preferRelativeResize="0"/>
          <p:nvPr/>
        </p:nvPicPr>
        <p:blipFill>
          <a:blip r:embed="rId3">
            <a:alphaModFix/>
          </a:blip>
          <a:stretch>
            <a:fillRect/>
          </a:stretch>
        </p:blipFill>
        <p:spPr>
          <a:xfrm>
            <a:off x="3772549" y="1017725"/>
            <a:ext cx="5059751" cy="3050675"/>
          </a:xfrm>
          <a:prstGeom prst="rect">
            <a:avLst/>
          </a:prstGeom>
          <a:noFill/>
          <a:ln>
            <a:noFill/>
          </a:ln>
        </p:spPr>
      </p:pic>
      <p:pic>
        <p:nvPicPr>
          <p:cNvPr id="193" name="Google Shape;193;p31"/>
          <p:cNvPicPr preferRelativeResize="0"/>
          <p:nvPr/>
        </p:nvPicPr>
        <p:blipFill>
          <a:blip r:embed="rId4">
            <a:alphaModFix/>
          </a:blip>
          <a:stretch>
            <a:fillRect/>
          </a:stretch>
        </p:blipFill>
        <p:spPr>
          <a:xfrm>
            <a:off x="311700" y="4416475"/>
            <a:ext cx="4829175" cy="152400"/>
          </a:xfrm>
          <a:prstGeom prst="rect">
            <a:avLst/>
          </a:prstGeom>
          <a:noFill/>
          <a:ln>
            <a:noFill/>
          </a:ln>
        </p:spPr>
      </p:pic>
      <p:pic>
        <p:nvPicPr>
          <p:cNvPr id="194" name="Google Shape;194;p31"/>
          <p:cNvPicPr preferRelativeResize="0"/>
          <p:nvPr/>
        </p:nvPicPr>
        <p:blipFill>
          <a:blip r:embed="rId5">
            <a:alphaModFix/>
          </a:blip>
          <a:stretch>
            <a:fillRect/>
          </a:stretch>
        </p:blipFill>
        <p:spPr>
          <a:xfrm>
            <a:off x="5763250" y="4135488"/>
            <a:ext cx="1609725" cy="7143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BMI</a:t>
            </a:r>
            <a:endParaRPr/>
          </a:p>
        </p:txBody>
      </p:sp>
      <p:sp>
        <p:nvSpPr>
          <p:cNvPr id="200" name="Google Shape;200;p32"/>
          <p:cNvSpPr txBox="1"/>
          <p:nvPr>
            <p:ph idx="1" type="body"/>
          </p:nvPr>
        </p:nvSpPr>
        <p:spPr>
          <a:xfrm>
            <a:off x="311700" y="1152475"/>
            <a:ext cx="3320400" cy="3416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en" sz="1700"/>
              <a:t>BMI is nearly identical between stroke and non-stroke groups.</a:t>
            </a:r>
            <a:br>
              <a:rPr lang="en" sz="1700"/>
            </a:br>
            <a:endParaRPr sz="1700"/>
          </a:p>
          <a:p>
            <a:pPr indent="0" lvl="0" marL="0" rtl="0" algn="l">
              <a:spcBef>
                <a:spcPts val="1200"/>
              </a:spcBef>
              <a:spcAft>
                <a:spcPts val="0"/>
              </a:spcAft>
              <a:buNone/>
            </a:pPr>
            <a:r>
              <a:rPr lang="en" sz="1700"/>
              <a:t>Medians and IQRs overlap heavily.</a:t>
            </a:r>
            <a:br>
              <a:rPr lang="en" sz="1700"/>
            </a:br>
            <a:endParaRPr sz="1700"/>
          </a:p>
          <a:p>
            <a:pPr indent="0" lvl="0" marL="0" rtl="0" algn="l">
              <a:spcBef>
                <a:spcPts val="1200"/>
              </a:spcBef>
              <a:spcAft>
                <a:spcPts val="0"/>
              </a:spcAft>
              <a:buNone/>
            </a:pPr>
            <a:r>
              <a:rPr lang="en" sz="1700"/>
              <a:t>Outliers appear in both groups.</a:t>
            </a:r>
            <a:endParaRPr sz="1700"/>
          </a:p>
          <a:p>
            <a:pPr indent="0" lvl="0" marL="0" rtl="0" algn="l">
              <a:spcBef>
                <a:spcPts val="1200"/>
              </a:spcBef>
              <a:spcAft>
                <a:spcPts val="0"/>
              </a:spcAft>
              <a:buNone/>
            </a:pPr>
            <a:r>
              <a:t/>
            </a:r>
            <a:endParaRPr sz="1400"/>
          </a:p>
          <a:p>
            <a:pPr indent="0" lvl="0" marL="0" rtl="0" algn="l">
              <a:spcBef>
                <a:spcPts val="1200"/>
              </a:spcBef>
              <a:spcAft>
                <a:spcPts val="1200"/>
              </a:spcAft>
              <a:buNone/>
            </a:pPr>
            <a:r>
              <a:rPr lang="en" sz="1700"/>
              <a:t>T-Test Result:</a:t>
            </a:r>
            <a:endParaRPr sz="1700"/>
          </a:p>
        </p:txBody>
      </p:sp>
      <p:pic>
        <p:nvPicPr>
          <p:cNvPr id="201" name="Google Shape;201;p32"/>
          <p:cNvPicPr preferRelativeResize="0"/>
          <p:nvPr/>
        </p:nvPicPr>
        <p:blipFill>
          <a:blip r:embed="rId3">
            <a:alphaModFix/>
          </a:blip>
          <a:stretch>
            <a:fillRect/>
          </a:stretch>
        </p:blipFill>
        <p:spPr>
          <a:xfrm>
            <a:off x="3479750" y="151625"/>
            <a:ext cx="5352551" cy="3681600"/>
          </a:xfrm>
          <a:prstGeom prst="rect">
            <a:avLst/>
          </a:prstGeom>
          <a:noFill/>
          <a:ln>
            <a:noFill/>
          </a:ln>
        </p:spPr>
      </p:pic>
      <p:pic>
        <p:nvPicPr>
          <p:cNvPr id="202" name="Google Shape;202;p32"/>
          <p:cNvPicPr preferRelativeResize="0"/>
          <p:nvPr/>
        </p:nvPicPr>
        <p:blipFill>
          <a:blip r:embed="rId4">
            <a:alphaModFix/>
          </a:blip>
          <a:stretch>
            <a:fillRect/>
          </a:stretch>
        </p:blipFill>
        <p:spPr>
          <a:xfrm>
            <a:off x="412650" y="4455525"/>
            <a:ext cx="3219450" cy="171450"/>
          </a:xfrm>
          <a:prstGeom prst="rect">
            <a:avLst/>
          </a:prstGeom>
          <a:noFill/>
          <a:ln>
            <a:noFill/>
          </a:ln>
        </p:spPr>
      </p:pic>
      <p:pic>
        <p:nvPicPr>
          <p:cNvPr id="203" name="Google Shape;203;p32"/>
          <p:cNvPicPr preferRelativeResize="0"/>
          <p:nvPr/>
        </p:nvPicPr>
        <p:blipFill>
          <a:blip r:embed="rId5">
            <a:alphaModFix/>
          </a:blip>
          <a:stretch>
            <a:fillRect/>
          </a:stretch>
        </p:blipFill>
        <p:spPr>
          <a:xfrm>
            <a:off x="3632105" y="4056799"/>
            <a:ext cx="2435075" cy="78190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Shapiro-Wilk Normality Test</a:t>
            </a:r>
            <a:endParaRPr/>
          </a:p>
        </p:txBody>
      </p:sp>
      <p:sp>
        <p:nvSpPr>
          <p:cNvPr id="209" name="Google Shape;209;p33"/>
          <p:cNvSpPr txBox="1"/>
          <p:nvPr>
            <p:ph idx="1" type="body"/>
          </p:nvPr>
        </p:nvSpPr>
        <p:spPr>
          <a:xfrm>
            <a:off x="311700" y="1152475"/>
            <a:ext cx="45552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lang="en"/>
              <a:t>Conclusion:</a:t>
            </a:r>
            <a:endParaRPr/>
          </a:p>
          <a:p>
            <a:pPr indent="0" lvl="0" marL="0" rtl="0" algn="l">
              <a:lnSpc>
                <a:spcPct val="100000"/>
              </a:lnSpc>
              <a:spcBef>
                <a:spcPts val="0"/>
              </a:spcBef>
              <a:spcAft>
                <a:spcPts val="0"/>
              </a:spcAft>
              <a:buNone/>
            </a:pPr>
            <a:r>
              <a:rPr lang="en"/>
              <a:t>Predictors violate normality assumptions (p &lt; 0.05 across all variables)</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
              <a:t>Non-normal, skewed data + class imbalance warrant the use of SMOTE</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
              <a:t>SMOTE is appropriate because it does not rely on normality and prevents majority-class dominance</a:t>
            </a:r>
            <a:endParaRPr/>
          </a:p>
        </p:txBody>
      </p:sp>
      <p:graphicFrame>
        <p:nvGraphicFramePr>
          <p:cNvPr id="210" name="Google Shape;210;p33"/>
          <p:cNvGraphicFramePr/>
          <p:nvPr/>
        </p:nvGraphicFramePr>
        <p:xfrm>
          <a:off x="5456700" y="1017725"/>
          <a:ext cx="3000000" cy="3000000"/>
        </p:xfrm>
        <a:graphic>
          <a:graphicData uri="http://schemas.openxmlformats.org/drawingml/2006/table">
            <a:tbl>
              <a:tblPr>
                <a:noFill/>
                <a:tableStyleId>{722DC115-1704-4F57-AA10-7547003446CC}</a:tableStyleId>
              </a:tblPr>
              <a:tblGrid>
                <a:gridCol w="1029975"/>
                <a:gridCol w="1029975"/>
                <a:gridCol w="1029975"/>
              </a:tblGrid>
              <a:tr h="255650">
                <a:tc>
                  <a:txBody>
                    <a:bodyPr/>
                    <a:lstStyle/>
                    <a:p>
                      <a:pPr indent="0" lvl="0" marL="0" rtl="0" algn="l">
                        <a:lnSpc>
                          <a:spcPct val="115000"/>
                        </a:lnSpc>
                        <a:spcBef>
                          <a:spcPts val="0"/>
                        </a:spcBef>
                        <a:spcAft>
                          <a:spcPts val="1200"/>
                        </a:spcAft>
                        <a:buNone/>
                      </a:pPr>
                      <a:r>
                        <a:rPr lang="en" sz="1100">
                          <a:solidFill>
                            <a:schemeClr val="accent3"/>
                          </a:solidFill>
                          <a:latin typeface="Proxima Nova"/>
                          <a:ea typeface="Proxima Nova"/>
                          <a:cs typeface="Proxima Nova"/>
                          <a:sym typeface="Proxima Nova"/>
                        </a:rPr>
                        <a:t>Feature</a:t>
                      </a:r>
                      <a:endParaRPr sz="700"/>
                    </a:p>
                  </a:txBody>
                  <a:tcPr marT="91425" marB="91425" marR="91425" marL="91425"/>
                </a:tc>
                <a:tc>
                  <a:txBody>
                    <a:bodyPr/>
                    <a:lstStyle/>
                    <a:p>
                      <a:pPr indent="0" lvl="0" marL="0" rtl="0" algn="l">
                        <a:lnSpc>
                          <a:spcPct val="115000"/>
                        </a:lnSpc>
                        <a:spcBef>
                          <a:spcPts val="0"/>
                        </a:spcBef>
                        <a:spcAft>
                          <a:spcPts val="1200"/>
                        </a:spcAft>
                        <a:buNone/>
                      </a:pPr>
                      <a:r>
                        <a:rPr lang="en" sz="1100">
                          <a:solidFill>
                            <a:schemeClr val="accent3"/>
                          </a:solidFill>
                          <a:latin typeface="Proxima Nova"/>
                          <a:ea typeface="Proxima Nova"/>
                          <a:cs typeface="Proxima Nova"/>
                          <a:sym typeface="Proxima Nova"/>
                        </a:rPr>
                        <a:t>p-value</a:t>
                      </a:r>
                      <a:endParaRPr sz="700"/>
                    </a:p>
                  </a:txBody>
                  <a:tcPr marT="91425" marB="91425" marR="91425" marL="91425"/>
                </a:tc>
                <a:tc>
                  <a:txBody>
                    <a:bodyPr/>
                    <a:lstStyle/>
                    <a:p>
                      <a:pPr indent="0" lvl="0" marL="0" rtl="0" algn="l">
                        <a:lnSpc>
                          <a:spcPct val="115000"/>
                        </a:lnSpc>
                        <a:spcBef>
                          <a:spcPts val="0"/>
                        </a:spcBef>
                        <a:spcAft>
                          <a:spcPts val="1200"/>
                        </a:spcAft>
                        <a:buNone/>
                      </a:pPr>
                      <a:r>
                        <a:rPr lang="en" sz="1100">
                          <a:solidFill>
                            <a:schemeClr val="accent3"/>
                          </a:solidFill>
                          <a:latin typeface="Proxima Nova"/>
                          <a:ea typeface="Proxima Nova"/>
                          <a:cs typeface="Proxima Nova"/>
                          <a:sym typeface="Proxima Nova"/>
                        </a:rPr>
                        <a:t>Interpretation</a:t>
                      </a:r>
                      <a:endParaRPr sz="700"/>
                    </a:p>
                  </a:txBody>
                  <a:tcPr marT="91425" marB="91425" marR="91425" marL="91425"/>
                </a:tc>
              </a:tr>
              <a:tr h="255650">
                <a:tc>
                  <a:txBody>
                    <a:bodyPr/>
                    <a:lstStyle/>
                    <a:p>
                      <a:pPr indent="0" lvl="0" marL="0" rtl="0" algn="l">
                        <a:lnSpc>
                          <a:spcPct val="115000"/>
                        </a:lnSpc>
                        <a:spcBef>
                          <a:spcPts val="0"/>
                        </a:spcBef>
                        <a:spcAft>
                          <a:spcPts val="1200"/>
                        </a:spcAft>
                        <a:buNone/>
                      </a:pPr>
                      <a:r>
                        <a:rPr lang="en" sz="1100">
                          <a:solidFill>
                            <a:schemeClr val="accent3"/>
                          </a:solidFill>
                          <a:latin typeface="Proxima Nova"/>
                          <a:ea typeface="Proxima Nova"/>
                          <a:cs typeface="Proxima Nova"/>
                          <a:sym typeface="Proxima Nova"/>
                        </a:rPr>
                        <a:t>Age</a:t>
                      </a:r>
                      <a:endParaRPr sz="700"/>
                    </a:p>
                  </a:txBody>
                  <a:tcPr marT="91425" marB="91425" marR="91425" marL="91425"/>
                </a:tc>
                <a:tc>
                  <a:txBody>
                    <a:bodyPr/>
                    <a:lstStyle/>
                    <a:p>
                      <a:pPr indent="0" lvl="0" marL="0" rtl="0" algn="l">
                        <a:lnSpc>
                          <a:spcPct val="115000"/>
                        </a:lnSpc>
                        <a:spcBef>
                          <a:spcPts val="0"/>
                        </a:spcBef>
                        <a:spcAft>
                          <a:spcPts val="1200"/>
                        </a:spcAft>
                        <a:buNone/>
                      </a:pPr>
                      <a:r>
                        <a:rPr lang="en" sz="1100">
                          <a:solidFill>
                            <a:schemeClr val="accent3"/>
                          </a:solidFill>
                          <a:latin typeface="Proxima Nova"/>
                          <a:ea typeface="Proxima Nova"/>
                          <a:cs typeface="Proxima Nova"/>
                          <a:sym typeface="Proxima Nova"/>
                        </a:rPr>
                        <a:t>2.46 × 10⁻²⁹</a:t>
                      </a:r>
                      <a:endParaRPr sz="1100">
                        <a:solidFill>
                          <a:schemeClr val="accent3"/>
                        </a:solidFill>
                        <a:latin typeface="Proxima Nova"/>
                        <a:ea typeface="Proxima Nova"/>
                        <a:cs typeface="Proxima Nova"/>
                        <a:sym typeface="Proxima Nova"/>
                      </a:endParaRPr>
                    </a:p>
                  </a:txBody>
                  <a:tcPr marT="91425" marB="91425" marR="91425" marL="91425"/>
                </a:tc>
                <a:tc>
                  <a:txBody>
                    <a:bodyPr/>
                    <a:lstStyle/>
                    <a:p>
                      <a:pPr indent="0" lvl="0" marL="0" rtl="0" algn="l">
                        <a:lnSpc>
                          <a:spcPct val="115000"/>
                        </a:lnSpc>
                        <a:spcBef>
                          <a:spcPts val="0"/>
                        </a:spcBef>
                        <a:spcAft>
                          <a:spcPts val="1200"/>
                        </a:spcAft>
                        <a:buNone/>
                      </a:pPr>
                      <a:r>
                        <a:rPr lang="en" sz="1100">
                          <a:solidFill>
                            <a:schemeClr val="accent3"/>
                          </a:solidFill>
                          <a:latin typeface="Proxima Nova"/>
                          <a:ea typeface="Proxima Nova"/>
                          <a:cs typeface="Proxima Nova"/>
                          <a:sym typeface="Proxima Nova"/>
                        </a:rPr>
                        <a:t>Not normal</a:t>
                      </a:r>
                      <a:endParaRPr sz="700"/>
                    </a:p>
                  </a:txBody>
                  <a:tcPr marT="91425" marB="91425" marR="91425" marL="91425"/>
                </a:tc>
              </a:tr>
              <a:tr h="432075">
                <a:tc>
                  <a:txBody>
                    <a:bodyPr/>
                    <a:lstStyle/>
                    <a:p>
                      <a:pPr indent="0" lvl="0" marL="0" rtl="0" algn="l">
                        <a:lnSpc>
                          <a:spcPct val="115000"/>
                        </a:lnSpc>
                        <a:spcBef>
                          <a:spcPts val="0"/>
                        </a:spcBef>
                        <a:spcAft>
                          <a:spcPts val="1200"/>
                        </a:spcAft>
                        <a:buNone/>
                      </a:pPr>
                      <a:r>
                        <a:rPr lang="en" sz="1100">
                          <a:solidFill>
                            <a:schemeClr val="accent3"/>
                          </a:solidFill>
                          <a:latin typeface="Proxima Nova"/>
                          <a:ea typeface="Proxima Nova"/>
                          <a:cs typeface="Proxima Nova"/>
                          <a:sym typeface="Proxima Nova"/>
                        </a:rPr>
                        <a:t>Avg Glucose Level</a:t>
                      </a:r>
                      <a:endParaRPr sz="700"/>
                    </a:p>
                  </a:txBody>
                  <a:tcPr marT="91425" marB="91425" marR="91425" marL="91425"/>
                </a:tc>
                <a:tc>
                  <a:txBody>
                    <a:bodyPr/>
                    <a:lstStyle/>
                    <a:p>
                      <a:pPr indent="0" lvl="0" marL="0" rtl="0" algn="l">
                        <a:lnSpc>
                          <a:spcPct val="115000"/>
                        </a:lnSpc>
                        <a:spcBef>
                          <a:spcPts val="0"/>
                        </a:spcBef>
                        <a:spcAft>
                          <a:spcPts val="1200"/>
                        </a:spcAft>
                        <a:buNone/>
                      </a:pPr>
                      <a:r>
                        <a:rPr lang="en" sz="1100">
                          <a:solidFill>
                            <a:schemeClr val="accent3"/>
                          </a:solidFill>
                          <a:latin typeface="Proxima Nova"/>
                          <a:ea typeface="Proxima Nova"/>
                          <a:cs typeface="Proxima Nova"/>
                          <a:sym typeface="Proxima Nova"/>
                        </a:rPr>
                        <a:t>1.05 × 10⁻⁴²</a:t>
                      </a:r>
                      <a:endParaRPr sz="700"/>
                    </a:p>
                  </a:txBody>
                  <a:tcPr marT="91425" marB="91425" marR="91425" marL="91425"/>
                </a:tc>
                <a:tc>
                  <a:txBody>
                    <a:bodyPr/>
                    <a:lstStyle/>
                    <a:p>
                      <a:pPr indent="0" lvl="0" marL="0" rtl="0" algn="l">
                        <a:lnSpc>
                          <a:spcPct val="115000"/>
                        </a:lnSpc>
                        <a:spcBef>
                          <a:spcPts val="0"/>
                        </a:spcBef>
                        <a:spcAft>
                          <a:spcPts val="1200"/>
                        </a:spcAft>
                        <a:buNone/>
                      </a:pPr>
                      <a:r>
                        <a:rPr lang="en" sz="1100">
                          <a:solidFill>
                            <a:schemeClr val="accent3"/>
                          </a:solidFill>
                          <a:latin typeface="Proxima Nova"/>
                          <a:ea typeface="Proxima Nova"/>
                          <a:cs typeface="Proxima Nova"/>
                          <a:sym typeface="Proxima Nova"/>
                        </a:rPr>
                        <a:t>Not normal</a:t>
                      </a:r>
                      <a:endParaRPr sz="700"/>
                    </a:p>
                  </a:txBody>
                  <a:tcPr marT="91425" marB="91425" marR="91425" marL="91425"/>
                </a:tc>
              </a:tr>
              <a:tr h="274825">
                <a:tc>
                  <a:txBody>
                    <a:bodyPr/>
                    <a:lstStyle/>
                    <a:p>
                      <a:pPr indent="0" lvl="0" marL="0" rtl="0" algn="l">
                        <a:lnSpc>
                          <a:spcPct val="115000"/>
                        </a:lnSpc>
                        <a:spcBef>
                          <a:spcPts val="0"/>
                        </a:spcBef>
                        <a:spcAft>
                          <a:spcPts val="1200"/>
                        </a:spcAft>
                        <a:buNone/>
                      </a:pPr>
                      <a:r>
                        <a:rPr lang="en" sz="1100">
                          <a:solidFill>
                            <a:schemeClr val="accent3"/>
                          </a:solidFill>
                          <a:latin typeface="Proxima Nova"/>
                          <a:ea typeface="Proxima Nova"/>
                          <a:cs typeface="Proxima Nova"/>
                          <a:sym typeface="Proxima Nova"/>
                        </a:rPr>
                        <a:t>BMI</a:t>
                      </a:r>
                      <a:endParaRPr sz="700"/>
                    </a:p>
                  </a:txBody>
                  <a:tcPr marT="91425" marB="91425" marR="91425" marL="91425"/>
                </a:tc>
                <a:tc>
                  <a:txBody>
                    <a:bodyPr/>
                    <a:lstStyle/>
                    <a:p>
                      <a:pPr indent="0" lvl="0" marL="0" rtl="0" algn="l">
                        <a:lnSpc>
                          <a:spcPct val="115000"/>
                        </a:lnSpc>
                        <a:spcBef>
                          <a:spcPts val="0"/>
                        </a:spcBef>
                        <a:spcAft>
                          <a:spcPts val="1200"/>
                        </a:spcAft>
                        <a:buNone/>
                      </a:pPr>
                      <a:r>
                        <a:rPr lang="en" sz="1100">
                          <a:solidFill>
                            <a:schemeClr val="accent3"/>
                          </a:solidFill>
                          <a:latin typeface="Proxima Nova"/>
                          <a:ea typeface="Proxima Nova"/>
                          <a:cs typeface="Proxima Nova"/>
                          <a:sym typeface="Proxima Nova"/>
                        </a:rPr>
                        <a:t>8.19 × 10⁻²⁸</a:t>
                      </a:r>
                      <a:endParaRPr sz="700"/>
                    </a:p>
                  </a:txBody>
                  <a:tcPr marT="91425" marB="91425" marR="91425" marL="91425"/>
                </a:tc>
                <a:tc>
                  <a:txBody>
                    <a:bodyPr/>
                    <a:lstStyle/>
                    <a:p>
                      <a:pPr indent="0" lvl="0" marL="0" rtl="0" algn="l">
                        <a:lnSpc>
                          <a:spcPct val="115000"/>
                        </a:lnSpc>
                        <a:spcBef>
                          <a:spcPts val="0"/>
                        </a:spcBef>
                        <a:spcAft>
                          <a:spcPts val="1200"/>
                        </a:spcAft>
                        <a:buNone/>
                      </a:pPr>
                      <a:r>
                        <a:rPr lang="en" sz="1100">
                          <a:solidFill>
                            <a:schemeClr val="accent3"/>
                          </a:solidFill>
                          <a:latin typeface="Proxima Nova"/>
                          <a:ea typeface="Proxima Nova"/>
                          <a:cs typeface="Proxima Nova"/>
                          <a:sym typeface="Proxima Nova"/>
                        </a:rPr>
                        <a:t>Not normal</a:t>
                      </a:r>
                      <a:endParaRPr sz="700"/>
                    </a:p>
                  </a:txBody>
                  <a:tcPr marT="91425" marB="91425" marR="91425" marL="91425"/>
                </a:tc>
              </a:tr>
            </a:tbl>
          </a:graphicData>
        </a:graphic>
      </p:graphicFrame>
      <p:pic>
        <p:nvPicPr>
          <p:cNvPr id="211" name="Google Shape;211;p33"/>
          <p:cNvPicPr preferRelativeResize="0"/>
          <p:nvPr/>
        </p:nvPicPr>
        <p:blipFill>
          <a:blip r:embed="rId3">
            <a:alphaModFix/>
          </a:blip>
          <a:stretch>
            <a:fillRect/>
          </a:stretch>
        </p:blipFill>
        <p:spPr>
          <a:xfrm>
            <a:off x="4958538" y="3184588"/>
            <a:ext cx="4086225" cy="11144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T-Test Results (Numeric Features)</a:t>
            </a:r>
            <a:endParaRPr/>
          </a:p>
        </p:txBody>
      </p:sp>
      <p:sp>
        <p:nvSpPr>
          <p:cNvPr id="217" name="Google Shape;217;p34"/>
          <p:cNvSpPr txBox="1"/>
          <p:nvPr>
            <p:ph idx="1" type="body"/>
          </p:nvPr>
        </p:nvSpPr>
        <p:spPr>
          <a:xfrm>
            <a:off x="311700" y="1087075"/>
            <a:ext cx="4260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Age: highly significant (p ≈ 1.46e-15)</a:t>
            </a:r>
            <a:endParaRPr/>
          </a:p>
          <a:p>
            <a:pPr indent="0" lvl="0" marL="0" rtl="0" algn="l">
              <a:spcBef>
                <a:spcPts val="1200"/>
              </a:spcBef>
              <a:spcAft>
                <a:spcPts val="0"/>
              </a:spcAft>
              <a:buNone/>
            </a:pPr>
            <a:r>
              <a:rPr lang="en"/>
              <a:t>Avg glucose: highly significant (p ≈ 9.58e-06)</a:t>
            </a:r>
            <a:endParaRPr/>
          </a:p>
          <a:p>
            <a:pPr indent="0" lvl="0" marL="0" rtl="0" algn="l">
              <a:spcBef>
                <a:spcPts val="1200"/>
              </a:spcBef>
              <a:spcAft>
                <a:spcPts val="0"/>
              </a:spcAft>
              <a:buNone/>
            </a:pPr>
            <a:r>
              <a:rPr lang="en"/>
              <a:t>BMI: not significant (p ≈ 0.9)</a:t>
            </a:r>
            <a:endParaRPr/>
          </a:p>
          <a:p>
            <a:pPr indent="0" lvl="0" marL="0" rtl="0" algn="l">
              <a:spcBef>
                <a:spcPts val="1200"/>
              </a:spcBef>
              <a:spcAft>
                <a:spcPts val="1200"/>
              </a:spcAft>
              <a:buNone/>
            </a:pPr>
            <a:r>
              <a:rPr lang="en"/>
              <a:t>Interpretation: Older age and higher glucose levels strongly relate to stroke occurrence.</a:t>
            </a:r>
            <a:endParaRPr/>
          </a:p>
        </p:txBody>
      </p:sp>
      <p:pic>
        <p:nvPicPr>
          <p:cNvPr id="218" name="Google Shape;218;p34"/>
          <p:cNvPicPr preferRelativeResize="0"/>
          <p:nvPr/>
        </p:nvPicPr>
        <p:blipFill>
          <a:blip r:embed="rId3">
            <a:alphaModFix/>
          </a:blip>
          <a:stretch>
            <a:fillRect/>
          </a:stretch>
        </p:blipFill>
        <p:spPr>
          <a:xfrm>
            <a:off x="4389200" y="2571750"/>
            <a:ext cx="4443100" cy="943550"/>
          </a:xfrm>
          <a:prstGeom prst="rect">
            <a:avLst/>
          </a:prstGeom>
          <a:noFill/>
          <a:ln>
            <a:noFill/>
          </a:ln>
        </p:spPr>
      </p:pic>
      <p:pic>
        <p:nvPicPr>
          <p:cNvPr id="219" name="Google Shape;219;p34"/>
          <p:cNvPicPr preferRelativeResize="0"/>
          <p:nvPr/>
        </p:nvPicPr>
        <p:blipFill>
          <a:blip r:embed="rId4">
            <a:alphaModFix/>
          </a:blip>
          <a:stretch>
            <a:fillRect/>
          </a:stretch>
        </p:blipFill>
        <p:spPr>
          <a:xfrm>
            <a:off x="4189250" y="1386350"/>
            <a:ext cx="4715300" cy="11854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Categorical Features using One Hot Encoding</a:t>
            </a:r>
            <a:endParaRPr/>
          </a:p>
        </p:txBody>
      </p:sp>
      <p:sp>
        <p:nvSpPr>
          <p:cNvPr id="225" name="Google Shape;225;p35"/>
          <p:cNvSpPr txBox="1"/>
          <p:nvPr>
            <p:ph idx="1" type="body"/>
          </p:nvPr>
        </p:nvSpPr>
        <p:spPr>
          <a:xfrm>
            <a:off x="311700" y="1152475"/>
            <a:ext cx="3231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Our</a:t>
            </a:r>
            <a:r>
              <a:rPr lang="en"/>
              <a:t> code converts all non-numeric categories into numeric 0/1 columns and scales the numeric features so the machine learning models can use them properly.</a:t>
            </a:r>
            <a:endParaRPr/>
          </a:p>
          <a:p>
            <a:pPr indent="0" lvl="0" marL="0" rtl="0" algn="l">
              <a:spcBef>
                <a:spcPts val="1200"/>
              </a:spcBef>
              <a:spcAft>
                <a:spcPts val="1200"/>
              </a:spcAft>
              <a:buNone/>
            </a:pPr>
            <a:r>
              <a:t/>
            </a:r>
            <a:endParaRPr/>
          </a:p>
        </p:txBody>
      </p:sp>
      <p:sp>
        <p:nvSpPr>
          <p:cNvPr id="226" name="Google Shape;226;p35"/>
          <p:cNvSpPr txBox="1"/>
          <p:nvPr/>
        </p:nvSpPr>
        <p:spPr>
          <a:xfrm>
            <a:off x="4816700" y="1064400"/>
            <a:ext cx="2760300" cy="4079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accent3"/>
                </a:solidFill>
                <a:latin typeface="Proxima Nova"/>
                <a:ea typeface="Proxima Nova"/>
                <a:cs typeface="Proxima Nova"/>
                <a:sym typeface="Proxima Nova"/>
              </a:rPr>
              <a:t>gender_Male: 0=Female, 1=Male</a:t>
            </a:r>
            <a:endParaRPr sz="1100">
              <a:solidFill>
                <a:schemeClr val="accent3"/>
              </a:solidFill>
              <a:latin typeface="Proxima Nova"/>
              <a:ea typeface="Proxima Nova"/>
              <a:cs typeface="Proxima Nova"/>
              <a:sym typeface="Proxima Nova"/>
            </a:endParaRPr>
          </a:p>
          <a:p>
            <a:pPr indent="0" lvl="0" marL="0" rtl="0" algn="l">
              <a:spcBef>
                <a:spcPts val="0"/>
              </a:spcBef>
              <a:spcAft>
                <a:spcPts val="0"/>
              </a:spcAft>
              <a:buNone/>
            </a:pPr>
            <a:r>
              <a:t/>
            </a:r>
            <a:endParaRPr sz="1100">
              <a:solidFill>
                <a:schemeClr val="accent3"/>
              </a:solidFill>
              <a:latin typeface="Proxima Nova"/>
              <a:ea typeface="Proxima Nova"/>
              <a:cs typeface="Proxima Nova"/>
              <a:sym typeface="Proxima Nova"/>
            </a:endParaRPr>
          </a:p>
          <a:p>
            <a:pPr indent="0" lvl="0" marL="0" rtl="0" algn="l">
              <a:spcBef>
                <a:spcPts val="0"/>
              </a:spcBef>
              <a:spcAft>
                <a:spcPts val="0"/>
              </a:spcAft>
              <a:buNone/>
            </a:pPr>
            <a:r>
              <a:rPr lang="en" sz="1100">
                <a:solidFill>
                  <a:schemeClr val="accent3"/>
                </a:solidFill>
                <a:latin typeface="Proxima Nova"/>
                <a:ea typeface="Proxima Nova"/>
                <a:cs typeface="Proxima Nova"/>
                <a:sym typeface="Proxima Nova"/>
              </a:rPr>
              <a:t>ever_married_Yes: 0=No, 1=Yes</a:t>
            </a:r>
            <a:endParaRPr sz="1100">
              <a:solidFill>
                <a:schemeClr val="accent3"/>
              </a:solidFill>
              <a:latin typeface="Proxima Nova"/>
              <a:ea typeface="Proxima Nova"/>
              <a:cs typeface="Proxima Nova"/>
              <a:sym typeface="Proxima Nova"/>
            </a:endParaRPr>
          </a:p>
          <a:p>
            <a:pPr indent="0" lvl="0" marL="0" rtl="0" algn="l">
              <a:spcBef>
                <a:spcPts val="0"/>
              </a:spcBef>
              <a:spcAft>
                <a:spcPts val="0"/>
              </a:spcAft>
              <a:buNone/>
            </a:pPr>
            <a:r>
              <a:t/>
            </a:r>
            <a:endParaRPr sz="1100">
              <a:solidFill>
                <a:schemeClr val="accent3"/>
              </a:solidFill>
              <a:latin typeface="Proxima Nova"/>
              <a:ea typeface="Proxima Nova"/>
              <a:cs typeface="Proxima Nova"/>
              <a:sym typeface="Proxima Nova"/>
            </a:endParaRPr>
          </a:p>
          <a:p>
            <a:pPr indent="0" lvl="0" marL="0" rtl="0" algn="l">
              <a:spcBef>
                <a:spcPts val="0"/>
              </a:spcBef>
              <a:spcAft>
                <a:spcPts val="0"/>
              </a:spcAft>
              <a:buNone/>
            </a:pPr>
            <a:r>
              <a:rPr lang="en" sz="1100">
                <a:solidFill>
                  <a:schemeClr val="accent3"/>
                </a:solidFill>
                <a:latin typeface="Proxima Nova"/>
                <a:ea typeface="Proxima Nova"/>
                <a:cs typeface="Proxima Nova"/>
                <a:sym typeface="Proxima Nova"/>
              </a:rPr>
              <a:t>work_type_Private: 0=Not Private, 1=Private</a:t>
            </a:r>
            <a:endParaRPr sz="1100">
              <a:solidFill>
                <a:schemeClr val="accent3"/>
              </a:solidFill>
              <a:latin typeface="Proxima Nova"/>
              <a:ea typeface="Proxima Nova"/>
              <a:cs typeface="Proxima Nova"/>
              <a:sym typeface="Proxima Nova"/>
            </a:endParaRPr>
          </a:p>
          <a:p>
            <a:pPr indent="0" lvl="0" marL="0" rtl="0" algn="l">
              <a:spcBef>
                <a:spcPts val="0"/>
              </a:spcBef>
              <a:spcAft>
                <a:spcPts val="0"/>
              </a:spcAft>
              <a:buNone/>
            </a:pPr>
            <a:r>
              <a:t/>
            </a:r>
            <a:endParaRPr sz="1100">
              <a:solidFill>
                <a:schemeClr val="accent3"/>
              </a:solidFill>
              <a:latin typeface="Proxima Nova"/>
              <a:ea typeface="Proxima Nova"/>
              <a:cs typeface="Proxima Nova"/>
              <a:sym typeface="Proxima Nova"/>
            </a:endParaRPr>
          </a:p>
          <a:p>
            <a:pPr indent="0" lvl="0" marL="0" rtl="0" algn="l">
              <a:spcBef>
                <a:spcPts val="0"/>
              </a:spcBef>
              <a:spcAft>
                <a:spcPts val="0"/>
              </a:spcAft>
              <a:buNone/>
            </a:pPr>
            <a:r>
              <a:rPr lang="en" sz="1100">
                <a:solidFill>
                  <a:schemeClr val="accent3"/>
                </a:solidFill>
                <a:latin typeface="Proxima Nova"/>
                <a:ea typeface="Proxima Nova"/>
                <a:cs typeface="Proxima Nova"/>
                <a:sym typeface="Proxima Nova"/>
              </a:rPr>
              <a:t>work_type_Self-employed: 0=Not SE, 1=SE</a:t>
            </a:r>
            <a:endParaRPr sz="1100">
              <a:solidFill>
                <a:schemeClr val="accent3"/>
              </a:solidFill>
              <a:latin typeface="Proxima Nova"/>
              <a:ea typeface="Proxima Nova"/>
              <a:cs typeface="Proxima Nova"/>
              <a:sym typeface="Proxima Nova"/>
            </a:endParaRPr>
          </a:p>
          <a:p>
            <a:pPr indent="0" lvl="0" marL="0" rtl="0" algn="l">
              <a:spcBef>
                <a:spcPts val="0"/>
              </a:spcBef>
              <a:spcAft>
                <a:spcPts val="0"/>
              </a:spcAft>
              <a:buNone/>
            </a:pPr>
            <a:r>
              <a:t/>
            </a:r>
            <a:endParaRPr sz="1100">
              <a:solidFill>
                <a:schemeClr val="accent3"/>
              </a:solidFill>
              <a:latin typeface="Proxima Nova"/>
              <a:ea typeface="Proxima Nova"/>
              <a:cs typeface="Proxima Nova"/>
              <a:sym typeface="Proxima Nova"/>
            </a:endParaRPr>
          </a:p>
          <a:p>
            <a:pPr indent="0" lvl="0" marL="0" rtl="0" algn="l">
              <a:spcBef>
                <a:spcPts val="0"/>
              </a:spcBef>
              <a:spcAft>
                <a:spcPts val="0"/>
              </a:spcAft>
              <a:buNone/>
            </a:pPr>
            <a:r>
              <a:rPr lang="en" sz="1100">
                <a:solidFill>
                  <a:schemeClr val="accent3"/>
                </a:solidFill>
                <a:latin typeface="Proxima Nova"/>
                <a:ea typeface="Proxima Nova"/>
                <a:cs typeface="Proxima Nova"/>
                <a:sym typeface="Proxima Nova"/>
              </a:rPr>
              <a:t>work_type_Govt_job: 0=Not Govt, 1=Govt</a:t>
            </a:r>
            <a:endParaRPr sz="1100">
              <a:solidFill>
                <a:schemeClr val="accent3"/>
              </a:solidFill>
              <a:latin typeface="Proxima Nova"/>
              <a:ea typeface="Proxima Nova"/>
              <a:cs typeface="Proxima Nova"/>
              <a:sym typeface="Proxima Nova"/>
            </a:endParaRPr>
          </a:p>
          <a:p>
            <a:pPr indent="0" lvl="0" marL="0" rtl="0" algn="l">
              <a:spcBef>
                <a:spcPts val="0"/>
              </a:spcBef>
              <a:spcAft>
                <a:spcPts val="0"/>
              </a:spcAft>
              <a:buNone/>
            </a:pPr>
            <a:r>
              <a:t/>
            </a:r>
            <a:endParaRPr sz="1100">
              <a:solidFill>
                <a:schemeClr val="accent3"/>
              </a:solidFill>
              <a:latin typeface="Proxima Nova"/>
              <a:ea typeface="Proxima Nova"/>
              <a:cs typeface="Proxima Nova"/>
              <a:sym typeface="Proxima Nova"/>
            </a:endParaRPr>
          </a:p>
          <a:p>
            <a:pPr indent="0" lvl="0" marL="0" rtl="0" algn="l">
              <a:spcBef>
                <a:spcPts val="0"/>
              </a:spcBef>
              <a:spcAft>
                <a:spcPts val="0"/>
              </a:spcAft>
              <a:buNone/>
            </a:pPr>
            <a:r>
              <a:rPr lang="en" sz="1100">
                <a:solidFill>
                  <a:schemeClr val="accent3"/>
                </a:solidFill>
                <a:latin typeface="Proxima Nova"/>
                <a:ea typeface="Proxima Nova"/>
                <a:cs typeface="Proxima Nova"/>
                <a:sym typeface="Proxima Nova"/>
              </a:rPr>
              <a:t>work_type_children: 0=Not Child, 1=Child</a:t>
            </a:r>
            <a:endParaRPr sz="1100">
              <a:solidFill>
                <a:schemeClr val="accent3"/>
              </a:solidFill>
              <a:latin typeface="Proxima Nova"/>
              <a:ea typeface="Proxima Nova"/>
              <a:cs typeface="Proxima Nova"/>
              <a:sym typeface="Proxima Nova"/>
            </a:endParaRPr>
          </a:p>
          <a:p>
            <a:pPr indent="0" lvl="0" marL="0" rtl="0" algn="l">
              <a:spcBef>
                <a:spcPts val="0"/>
              </a:spcBef>
              <a:spcAft>
                <a:spcPts val="0"/>
              </a:spcAft>
              <a:buNone/>
            </a:pPr>
            <a:r>
              <a:t/>
            </a:r>
            <a:endParaRPr sz="1100">
              <a:solidFill>
                <a:schemeClr val="accent3"/>
              </a:solidFill>
              <a:latin typeface="Proxima Nova"/>
              <a:ea typeface="Proxima Nova"/>
              <a:cs typeface="Proxima Nova"/>
              <a:sym typeface="Proxima Nova"/>
            </a:endParaRPr>
          </a:p>
          <a:p>
            <a:pPr indent="0" lvl="0" marL="0" rtl="0" algn="l">
              <a:spcBef>
                <a:spcPts val="0"/>
              </a:spcBef>
              <a:spcAft>
                <a:spcPts val="0"/>
              </a:spcAft>
              <a:buNone/>
            </a:pPr>
            <a:r>
              <a:rPr lang="en" sz="1100">
                <a:solidFill>
                  <a:schemeClr val="accent3"/>
                </a:solidFill>
                <a:latin typeface="Proxima Nova"/>
                <a:ea typeface="Proxima Nova"/>
                <a:cs typeface="Proxima Nova"/>
                <a:sym typeface="Proxima Nova"/>
              </a:rPr>
              <a:t>Residence_type_Urban: 0=Rural, 1=Urban</a:t>
            </a:r>
            <a:endParaRPr sz="1100">
              <a:solidFill>
                <a:schemeClr val="accent3"/>
              </a:solidFill>
              <a:latin typeface="Proxima Nova"/>
              <a:ea typeface="Proxima Nova"/>
              <a:cs typeface="Proxima Nova"/>
              <a:sym typeface="Proxima Nova"/>
            </a:endParaRPr>
          </a:p>
          <a:p>
            <a:pPr indent="0" lvl="0" marL="0" rtl="0" algn="l">
              <a:spcBef>
                <a:spcPts val="0"/>
              </a:spcBef>
              <a:spcAft>
                <a:spcPts val="0"/>
              </a:spcAft>
              <a:buNone/>
            </a:pPr>
            <a:r>
              <a:t/>
            </a:r>
            <a:endParaRPr sz="1100">
              <a:solidFill>
                <a:schemeClr val="accent3"/>
              </a:solidFill>
              <a:latin typeface="Proxima Nova"/>
              <a:ea typeface="Proxima Nova"/>
              <a:cs typeface="Proxima Nova"/>
              <a:sym typeface="Proxima Nova"/>
            </a:endParaRPr>
          </a:p>
          <a:p>
            <a:pPr indent="0" lvl="0" marL="0" rtl="0" algn="l">
              <a:spcBef>
                <a:spcPts val="0"/>
              </a:spcBef>
              <a:spcAft>
                <a:spcPts val="0"/>
              </a:spcAft>
              <a:buNone/>
            </a:pPr>
            <a:r>
              <a:rPr lang="en" sz="1100">
                <a:solidFill>
                  <a:schemeClr val="accent3"/>
                </a:solidFill>
                <a:latin typeface="Proxima Nova"/>
                <a:ea typeface="Proxima Nova"/>
                <a:cs typeface="Proxima Nova"/>
                <a:sym typeface="Proxima Nova"/>
              </a:rPr>
              <a:t>smoking_status_formerly smoked: 0=No, 1=Former</a:t>
            </a:r>
            <a:endParaRPr sz="1100">
              <a:solidFill>
                <a:schemeClr val="accent3"/>
              </a:solidFill>
              <a:latin typeface="Proxima Nova"/>
              <a:ea typeface="Proxima Nova"/>
              <a:cs typeface="Proxima Nova"/>
              <a:sym typeface="Proxima Nova"/>
            </a:endParaRPr>
          </a:p>
          <a:p>
            <a:pPr indent="0" lvl="0" marL="0" rtl="0" algn="l">
              <a:spcBef>
                <a:spcPts val="0"/>
              </a:spcBef>
              <a:spcAft>
                <a:spcPts val="0"/>
              </a:spcAft>
              <a:buNone/>
            </a:pPr>
            <a:r>
              <a:t/>
            </a:r>
            <a:endParaRPr sz="1100">
              <a:solidFill>
                <a:schemeClr val="accent3"/>
              </a:solidFill>
              <a:latin typeface="Proxima Nova"/>
              <a:ea typeface="Proxima Nova"/>
              <a:cs typeface="Proxima Nova"/>
              <a:sym typeface="Proxima Nova"/>
            </a:endParaRPr>
          </a:p>
          <a:p>
            <a:pPr indent="0" lvl="0" marL="0" rtl="0" algn="l">
              <a:spcBef>
                <a:spcPts val="0"/>
              </a:spcBef>
              <a:spcAft>
                <a:spcPts val="0"/>
              </a:spcAft>
              <a:buNone/>
            </a:pPr>
            <a:r>
              <a:rPr lang="en" sz="1100">
                <a:solidFill>
                  <a:schemeClr val="accent3"/>
                </a:solidFill>
                <a:latin typeface="Proxima Nova"/>
                <a:ea typeface="Proxima Nova"/>
                <a:cs typeface="Proxima Nova"/>
                <a:sym typeface="Proxima Nova"/>
              </a:rPr>
              <a:t>smoking_status_never smoked: 0=No, 1=Never</a:t>
            </a:r>
            <a:endParaRPr sz="1100">
              <a:solidFill>
                <a:schemeClr val="accent3"/>
              </a:solidFill>
              <a:latin typeface="Proxima Nova"/>
              <a:ea typeface="Proxima Nova"/>
              <a:cs typeface="Proxima Nova"/>
              <a:sym typeface="Proxima Nova"/>
            </a:endParaRPr>
          </a:p>
          <a:p>
            <a:pPr indent="0" lvl="0" marL="0" rtl="0" algn="l">
              <a:spcBef>
                <a:spcPts val="0"/>
              </a:spcBef>
              <a:spcAft>
                <a:spcPts val="0"/>
              </a:spcAft>
              <a:buNone/>
            </a:pPr>
            <a:r>
              <a:t/>
            </a:r>
            <a:endParaRPr sz="1100">
              <a:solidFill>
                <a:schemeClr val="accent3"/>
              </a:solidFill>
              <a:latin typeface="Proxima Nova"/>
              <a:ea typeface="Proxima Nova"/>
              <a:cs typeface="Proxima Nova"/>
              <a:sym typeface="Proxima Nova"/>
            </a:endParaRPr>
          </a:p>
          <a:p>
            <a:pPr indent="0" lvl="0" marL="0" rtl="0" algn="l">
              <a:spcBef>
                <a:spcPts val="0"/>
              </a:spcBef>
              <a:spcAft>
                <a:spcPts val="0"/>
              </a:spcAft>
              <a:buNone/>
            </a:pPr>
            <a:r>
              <a:rPr lang="en" sz="1100">
                <a:solidFill>
                  <a:schemeClr val="accent3"/>
                </a:solidFill>
                <a:latin typeface="Proxima Nova"/>
                <a:ea typeface="Proxima Nova"/>
                <a:cs typeface="Proxima Nova"/>
                <a:sym typeface="Proxima Nova"/>
              </a:rPr>
              <a:t>smoking_status_smokes: 0=No, 1=Smoker</a:t>
            </a:r>
            <a:endParaRPr sz="1100">
              <a:solidFill>
                <a:schemeClr val="accent3"/>
              </a:solidFill>
              <a:latin typeface="Proxima Nova"/>
              <a:ea typeface="Proxima Nova"/>
              <a:cs typeface="Proxima Nova"/>
              <a:sym typeface="Proxima Nova"/>
            </a:endParaRPr>
          </a:p>
        </p:txBody>
      </p:sp>
      <p:pic>
        <p:nvPicPr>
          <p:cNvPr id="227" name="Google Shape;227;p35"/>
          <p:cNvPicPr preferRelativeResize="0"/>
          <p:nvPr/>
        </p:nvPicPr>
        <p:blipFill>
          <a:blip r:embed="rId3">
            <a:alphaModFix/>
          </a:blip>
          <a:stretch>
            <a:fillRect/>
          </a:stretch>
        </p:blipFill>
        <p:spPr>
          <a:xfrm>
            <a:off x="311700" y="3099843"/>
            <a:ext cx="3231300" cy="1914082"/>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Chi-Square Results (Categorical Features) </a:t>
            </a:r>
            <a:endParaRPr/>
          </a:p>
        </p:txBody>
      </p:sp>
      <p:sp>
        <p:nvSpPr>
          <p:cNvPr id="233" name="Google Shape;233;p36"/>
          <p:cNvSpPr txBox="1"/>
          <p:nvPr>
            <p:ph idx="1" type="body"/>
          </p:nvPr>
        </p:nvSpPr>
        <p:spPr>
          <a:xfrm>
            <a:off x="311700" y="1152475"/>
            <a:ext cx="42603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Hypertension: significant (p ≈ 2.63e-05)</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Heart disease: significant (p ≈ 2.53e-04)</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Non-significant variables: gender, work type, smoking status, residence type</a:t>
            </a:r>
            <a:endParaRPr/>
          </a:p>
          <a:p>
            <a:pPr indent="0" lvl="0" marL="0" rtl="0" algn="l">
              <a:spcBef>
                <a:spcPts val="1200"/>
              </a:spcBef>
              <a:spcAft>
                <a:spcPts val="1200"/>
              </a:spcAft>
              <a:buNone/>
            </a:pPr>
            <a:r>
              <a:rPr lang="en"/>
              <a:t>Interpretation: Cardiovascular conditions (hypertension, heart disease) show meaningful association with stroke risk.</a:t>
            </a:r>
            <a:endParaRPr/>
          </a:p>
        </p:txBody>
      </p:sp>
      <p:pic>
        <p:nvPicPr>
          <p:cNvPr id="234" name="Google Shape;234;p36"/>
          <p:cNvPicPr preferRelativeResize="0"/>
          <p:nvPr/>
        </p:nvPicPr>
        <p:blipFill>
          <a:blip r:embed="rId3">
            <a:alphaModFix/>
          </a:blip>
          <a:stretch>
            <a:fillRect/>
          </a:stretch>
        </p:blipFill>
        <p:spPr>
          <a:xfrm>
            <a:off x="4572000" y="2680151"/>
            <a:ext cx="4572000" cy="1802674"/>
          </a:xfrm>
          <a:prstGeom prst="rect">
            <a:avLst/>
          </a:prstGeom>
          <a:noFill/>
          <a:ln>
            <a:noFill/>
          </a:ln>
        </p:spPr>
      </p:pic>
      <p:pic>
        <p:nvPicPr>
          <p:cNvPr id="235" name="Google Shape;235;p36"/>
          <p:cNvPicPr preferRelativeResize="0"/>
          <p:nvPr/>
        </p:nvPicPr>
        <p:blipFill>
          <a:blip r:embed="rId4">
            <a:alphaModFix/>
          </a:blip>
          <a:stretch>
            <a:fillRect/>
          </a:stretch>
        </p:blipFill>
        <p:spPr>
          <a:xfrm>
            <a:off x="4571999" y="1017724"/>
            <a:ext cx="2699050" cy="15209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7"/>
          <p:cNvSpPr txBox="1"/>
          <p:nvPr>
            <p:ph type="title"/>
          </p:nvPr>
        </p:nvSpPr>
        <p:spPr>
          <a:xfrm>
            <a:off x="234525" y="4964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Scatter Plots of Key Health Factors (Age vs BMI)</a:t>
            </a:r>
            <a:endParaRPr/>
          </a:p>
        </p:txBody>
      </p:sp>
      <p:sp>
        <p:nvSpPr>
          <p:cNvPr id="241" name="Google Shape;241;p37"/>
          <p:cNvSpPr txBox="1"/>
          <p:nvPr>
            <p:ph idx="1" type="body"/>
          </p:nvPr>
        </p:nvSpPr>
        <p:spPr>
          <a:xfrm>
            <a:off x="311700" y="1152475"/>
            <a:ext cx="42603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Stroke cases appear across all BMI values, showing no clear BMI pattern.</a:t>
            </a:r>
            <a:endParaRPr/>
          </a:p>
          <a:p>
            <a:pPr indent="0" lvl="0" marL="0" rtl="0" algn="l">
              <a:spcBef>
                <a:spcPts val="1200"/>
              </a:spcBef>
              <a:spcAft>
                <a:spcPts val="0"/>
              </a:spcAft>
              <a:buNone/>
            </a:pPr>
            <a:r>
              <a:rPr lang="en"/>
              <a:t>Stroke cases are more common at older ages, not higher BMI.</a:t>
            </a:r>
            <a:endParaRPr/>
          </a:p>
          <a:p>
            <a:pPr indent="0" lvl="0" marL="0" rtl="0" algn="l">
              <a:spcBef>
                <a:spcPts val="1200"/>
              </a:spcBef>
              <a:spcAft>
                <a:spcPts val="0"/>
              </a:spcAft>
              <a:buNone/>
            </a:pPr>
            <a:r>
              <a:rPr lang="en"/>
              <a:t>BMI varies widely in both groups, matching the statistical result that BMI is not significant.</a:t>
            </a:r>
            <a:endParaRPr/>
          </a:p>
          <a:p>
            <a:pPr indent="0" lvl="0" marL="0" rtl="0" algn="l">
              <a:spcBef>
                <a:spcPts val="1200"/>
              </a:spcBef>
              <a:spcAft>
                <a:spcPts val="0"/>
              </a:spcAft>
              <a:buNone/>
            </a:pPr>
            <a:r>
              <a:rPr lang="en"/>
              <a:t>Takeaway:</a:t>
            </a:r>
            <a:endParaRPr/>
          </a:p>
          <a:p>
            <a:pPr indent="0" lvl="0" marL="0" rtl="0" algn="l">
              <a:spcBef>
                <a:spcPts val="1200"/>
              </a:spcBef>
              <a:spcAft>
                <a:spcPts val="1200"/>
              </a:spcAft>
              <a:buNone/>
            </a:pPr>
            <a:r>
              <a:rPr lang="en"/>
              <a:t>Age is a much stronger indicator of stroke risk than BMI in this dataset.</a:t>
            </a:r>
            <a:endParaRPr/>
          </a:p>
        </p:txBody>
      </p:sp>
      <p:pic>
        <p:nvPicPr>
          <p:cNvPr id="242" name="Google Shape;242;p37"/>
          <p:cNvPicPr preferRelativeResize="0"/>
          <p:nvPr/>
        </p:nvPicPr>
        <p:blipFill>
          <a:blip r:embed="rId3">
            <a:alphaModFix/>
          </a:blip>
          <a:stretch>
            <a:fillRect/>
          </a:stretch>
        </p:blipFill>
        <p:spPr>
          <a:xfrm>
            <a:off x="4899400" y="1444676"/>
            <a:ext cx="3114675" cy="2528694"/>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BMI vs Average Glucose Level</a:t>
            </a:r>
            <a:endParaRPr/>
          </a:p>
        </p:txBody>
      </p:sp>
      <p:sp>
        <p:nvSpPr>
          <p:cNvPr id="248" name="Google Shape;248;p38"/>
          <p:cNvSpPr txBox="1"/>
          <p:nvPr>
            <p:ph idx="1" type="body"/>
          </p:nvPr>
        </p:nvSpPr>
        <p:spPr>
          <a:xfrm>
            <a:off x="311700" y="1152475"/>
            <a:ext cx="4626000" cy="3416400"/>
          </a:xfrm>
          <a:prstGeom prst="rect">
            <a:avLst/>
          </a:prstGeom>
        </p:spPr>
        <p:txBody>
          <a:bodyPr anchorCtr="0" anchor="t" bIns="91425" lIns="91425" spcFirstLastPara="1" rIns="91425" wrap="square" tIns="91425">
            <a:normAutofit fontScale="77500" lnSpcReduction="10000"/>
          </a:bodyPr>
          <a:lstStyle/>
          <a:p>
            <a:pPr indent="0" lvl="0" marL="0" rtl="0" algn="l">
              <a:spcBef>
                <a:spcPts val="0"/>
              </a:spcBef>
              <a:spcAft>
                <a:spcPts val="0"/>
              </a:spcAft>
              <a:buNone/>
            </a:pPr>
            <a:r>
              <a:rPr lang="en"/>
              <a:t>Stroke cases appear at higher glucose levels, regardless of BMI.</a:t>
            </a:r>
            <a:endParaRPr/>
          </a:p>
          <a:p>
            <a:pPr indent="0" lvl="0" marL="0" rtl="0" algn="l">
              <a:spcBef>
                <a:spcPts val="1200"/>
              </a:spcBef>
              <a:spcAft>
                <a:spcPts val="0"/>
              </a:spcAft>
              <a:buNone/>
            </a:pPr>
            <a:r>
              <a:rPr lang="en"/>
              <a:t>BMI does not clearly separate stroke and non-stroke groups.</a:t>
            </a:r>
            <a:endParaRPr/>
          </a:p>
          <a:p>
            <a:pPr indent="0" lvl="0" marL="0" rtl="0" algn="l">
              <a:spcBef>
                <a:spcPts val="1200"/>
              </a:spcBef>
              <a:spcAft>
                <a:spcPts val="0"/>
              </a:spcAft>
              <a:buNone/>
            </a:pPr>
            <a:r>
              <a:rPr lang="en"/>
              <a:t>Most stroke cases cluster where glucose is above ~150 mg/dL.</a:t>
            </a:r>
            <a:endParaRPr/>
          </a:p>
          <a:p>
            <a:pPr indent="0" lvl="0" marL="0" rtl="0" algn="l">
              <a:spcBef>
                <a:spcPts val="1200"/>
              </a:spcBef>
              <a:spcAft>
                <a:spcPts val="0"/>
              </a:spcAft>
              <a:buNone/>
            </a:pPr>
            <a:r>
              <a:rPr lang="en"/>
              <a:t>This supports glucose as a stronger predictor than BMI.</a:t>
            </a:r>
            <a:endParaRPr/>
          </a:p>
          <a:p>
            <a:pPr indent="0" lvl="0" marL="0" rtl="0" algn="l">
              <a:spcBef>
                <a:spcPts val="1200"/>
              </a:spcBef>
              <a:spcAft>
                <a:spcPts val="0"/>
              </a:spcAft>
              <a:buNone/>
            </a:pPr>
            <a:r>
              <a:rPr lang="en"/>
              <a:t>Takeaway:</a:t>
            </a:r>
            <a:endParaRPr/>
          </a:p>
          <a:p>
            <a:pPr indent="0" lvl="0" marL="0" rtl="0" algn="l">
              <a:spcBef>
                <a:spcPts val="1200"/>
              </a:spcBef>
              <a:spcAft>
                <a:spcPts val="1200"/>
              </a:spcAft>
              <a:buNone/>
            </a:pPr>
            <a:r>
              <a:rPr lang="en"/>
              <a:t>Glucose level shows a clearer relationship with stroke risk than BMI, consistent with statistical tests and model feature importance.</a:t>
            </a:r>
            <a:endParaRPr/>
          </a:p>
        </p:txBody>
      </p:sp>
      <p:pic>
        <p:nvPicPr>
          <p:cNvPr id="249" name="Google Shape;249;p38"/>
          <p:cNvPicPr preferRelativeResize="0"/>
          <p:nvPr/>
        </p:nvPicPr>
        <p:blipFill>
          <a:blip r:embed="rId3">
            <a:alphaModFix/>
          </a:blip>
          <a:stretch>
            <a:fillRect/>
          </a:stretch>
        </p:blipFill>
        <p:spPr>
          <a:xfrm>
            <a:off x="5005408" y="1285113"/>
            <a:ext cx="3470875" cy="28992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Age vs Average Glucose Level</a:t>
            </a:r>
            <a:endParaRPr/>
          </a:p>
        </p:txBody>
      </p:sp>
      <p:sp>
        <p:nvSpPr>
          <p:cNvPr id="255" name="Google Shape;255;p39"/>
          <p:cNvSpPr txBox="1"/>
          <p:nvPr>
            <p:ph idx="1" type="body"/>
          </p:nvPr>
        </p:nvSpPr>
        <p:spPr>
          <a:xfrm>
            <a:off x="311700" y="1152475"/>
            <a:ext cx="4163100" cy="34164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en"/>
              <a:t>Stroke cases tend to occur at higher glucose levels, across many ages.</a:t>
            </a:r>
            <a:endParaRPr/>
          </a:p>
          <a:p>
            <a:pPr indent="0" lvl="0" marL="0" rtl="0" algn="l">
              <a:spcBef>
                <a:spcPts val="1200"/>
              </a:spcBef>
              <a:spcAft>
                <a:spcPts val="0"/>
              </a:spcAft>
              <a:buNone/>
            </a:pPr>
            <a:r>
              <a:rPr lang="en"/>
              <a:t>Glucose appears more strongly linked to stroke than age in this plot.</a:t>
            </a:r>
            <a:endParaRPr/>
          </a:p>
          <a:p>
            <a:pPr indent="0" lvl="0" marL="0" rtl="0" algn="l">
              <a:spcBef>
                <a:spcPts val="1200"/>
              </a:spcBef>
              <a:spcAft>
                <a:spcPts val="0"/>
              </a:spcAft>
              <a:buNone/>
            </a:pPr>
            <a:r>
              <a:rPr lang="en"/>
              <a:t>Stroke points are more frequent above ~150 mg/dL glucose, regardless of age.</a:t>
            </a:r>
            <a:endParaRPr/>
          </a:p>
          <a:p>
            <a:pPr indent="0" lvl="0" marL="0" rtl="0" algn="l">
              <a:spcBef>
                <a:spcPts val="1200"/>
              </a:spcBef>
              <a:spcAft>
                <a:spcPts val="0"/>
              </a:spcAft>
              <a:buNone/>
            </a:pPr>
            <a:r>
              <a:rPr lang="en"/>
              <a:t>Age still shows some concentration of strokes at older ages, but glucose is the clearer separator.</a:t>
            </a:r>
            <a:endParaRPr/>
          </a:p>
          <a:p>
            <a:pPr indent="0" lvl="0" marL="0" rtl="0" algn="l">
              <a:spcBef>
                <a:spcPts val="1200"/>
              </a:spcBef>
              <a:spcAft>
                <a:spcPts val="0"/>
              </a:spcAft>
              <a:buNone/>
            </a:pPr>
            <a:r>
              <a:rPr lang="en"/>
              <a:t>Takeaway:</a:t>
            </a:r>
            <a:endParaRPr/>
          </a:p>
          <a:p>
            <a:pPr indent="0" lvl="0" marL="0" rtl="0" algn="l">
              <a:spcBef>
                <a:spcPts val="1200"/>
              </a:spcBef>
              <a:spcAft>
                <a:spcPts val="1200"/>
              </a:spcAft>
              <a:buNone/>
            </a:pPr>
            <a:r>
              <a:rPr lang="en"/>
              <a:t>High glucose levels show a noticeable association with stroke, supporting glucose as one of the strongest predictors in the dataset.</a:t>
            </a:r>
            <a:endParaRPr/>
          </a:p>
        </p:txBody>
      </p:sp>
      <p:pic>
        <p:nvPicPr>
          <p:cNvPr id="256" name="Google Shape;256;p39"/>
          <p:cNvPicPr preferRelativeResize="0"/>
          <p:nvPr/>
        </p:nvPicPr>
        <p:blipFill>
          <a:blip r:embed="rId3">
            <a:alphaModFix/>
          </a:blip>
          <a:stretch>
            <a:fillRect/>
          </a:stretch>
        </p:blipFill>
        <p:spPr>
          <a:xfrm>
            <a:off x="4474807" y="1152471"/>
            <a:ext cx="3965114" cy="3416399"/>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Correlation Heatmap</a:t>
            </a:r>
            <a:endParaRPr/>
          </a:p>
        </p:txBody>
      </p:sp>
      <p:sp>
        <p:nvSpPr>
          <p:cNvPr id="262" name="Google Shape;262;p40"/>
          <p:cNvSpPr txBox="1"/>
          <p:nvPr>
            <p:ph idx="1" type="body"/>
          </p:nvPr>
        </p:nvSpPr>
        <p:spPr>
          <a:xfrm>
            <a:off x="311700" y="1152475"/>
            <a:ext cx="3906300" cy="3416400"/>
          </a:xfrm>
          <a:prstGeom prst="rect">
            <a:avLst/>
          </a:prstGeom>
        </p:spPr>
        <p:txBody>
          <a:bodyPr anchorCtr="0" anchor="t" bIns="91425" lIns="91425" spcFirstLastPara="1" rIns="91425" wrap="square" tIns="91425">
            <a:normAutofit fontScale="70000" lnSpcReduction="10000"/>
          </a:bodyPr>
          <a:lstStyle/>
          <a:p>
            <a:pPr indent="0" lvl="0" marL="0" rtl="0" algn="l">
              <a:spcBef>
                <a:spcPts val="0"/>
              </a:spcBef>
              <a:spcAft>
                <a:spcPts val="0"/>
              </a:spcAft>
              <a:buNone/>
            </a:pPr>
            <a:r>
              <a:rPr lang="en"/>
              <a:t>Age and glucose show strong positive correlation, and the age_glucose interaction captures this relationship.</a:t>
            </a:r>
            <a:endParaRPr/>
          </a:p>
          <a:p>
            <a:pPr indent="0" lvl="0" marL="0" rtl="0" algn="l">
              <a:spcBef>
                <a:spcPts val="1200"/>
              </a:spcBef>
              <a:spcAft>
                <a:spcPts val="0"/>
              </a:spcAft>
              <a:buNone/>
            </a:pPr>
            <a:r>
              <a:rPr lang="en"/>
              <a:t>Age and average glucose both have meaningful positive correlations with stroke, aligning with statistical tests.</a:t>
            </a:r>
            <a:endParaRPr/>
          </a:p>
          <a:p>
            <a:pPr indent="0" lvl="0" marL="0" rtl="0" algn="l">
              <a:spcBef>
                <a:spcPts val="1200"/>
              </a:spcBef>
              <a:spcAft>
                <a:spcPts val="0"/>
              </a:spcAft>
              <a:buNone/>
            </a:pPr>
            <a:r>
              <a:rPr lang="en"/>
              <a:t>BMI shows no meaningful correlation with stroke.</a:t>
            </a:r>
            <a:endParaRPr/>
          </a:p>
          <a:p>
            <a:pPr indent="0" lvl="0" marL="0" rtl="0" algn="l">
              <a:spcBef>
                <a:spcPts val="1200"/>
              </a:spcBef>
              <a:spcAft>
                <a:spcPts val="0"/>
              </a:spcAft>
              <a:buNone/>
            </a:pPr>
            <a:r>
              <a:rPr lang="en"/>
              <a:t>Hypertension + heart disease (htn_hd) has only a weak association with stroke.</a:t>
            </a:r>
            <a:endParaRPr/>
          </a:p>
          <a:p>
            <a:pPr indent="0" lvl="0" marL="0" rtl="0" algn="l">
              <a:spcBef>
                <a:spcPts val="1200"/>
              </a:spcBef>
              <a:spcAft>
                <a:spcPts val="0"/>
              </a:spcAft>
              <a:buNone/>
            </a:pPr>
            <a:r>
              <a:rPr lang="en"/>
              <a:t>Overall:</a:t>
            </a:r>
            <a:endParaRPr/>
          </a:p>
          <a:p>
            <a:pPr indent="0" lvl="0" marL="0" rtl="0" algn="l">
              <a:spcBef>
                <a:spcPts val="1200"/>
              </a:spcBef>
              <a:spcAft>
                <a:spcPts val="1200"/>
              </a:spcAft>
              <a:buNone/>
            </a:pPr>
            <a:r>
              <a:rPr lang="en"/>
              <a:t>Strongest predictors of stroke in this group are age, glucose, and their interaction.</a:t>
            </a:r>
            <a:endParaRPr/>
          </a:p>
        </p:txBody>
      </p:sp>
      <p:pic>
        <p:nvPicPr>
          <p:cNvPr id="263" name="Google Shape;263;p40"/>
          <p:cNvPicPr preferRelativeResize="0"/>
          <p:nvPr/>
        </p:nvPicPr>
        <p:blipFill>
          <a:blip r:embed="rId3">
            <a:alphaModFix/>
          </a:blip>
          <a:stretch>
            <a:fillRect/>
          </a:stretch>
        </p:blipFill>
        <p:spPr>
          <a:xfrm>
            <a:off x="4059425" y="807924"/>
            <a:ext cx="4772875" cy="39574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Pearson r-Values vs Stroke</a:t>
            </a:r>
            <a:endParaRPr/>
          </a:p>
        </p:txBody>
      </p:sp>
      <p:sp>
        <p:nvSpPr>
          <p:cNvPr id="269" name="Google Shape;269;p41"/>
          <p:cNvSpPr txBox="1"/>
          <p:nvPr>
            <p:ph idx="1" type="body"/>
          </p:nvPr>
        </p:nvSpPr>
        <p:spPr>
          <a:xfrm>
            <a:off x="311700" y="1130075"/>
            <a:ext cx="3699900" cy="3819600"/>
          </a:xfrm>
          <a:prstGeom prst="rect">
            <a:avLst/>
          </a:prstGeom>
        </p:spPr>
        <p:txBody>
          <a:bodyPr anchorCtr="0" anchor="t" bIns="91425" lIns="91425" spcFirstLastPara="1" rIns="91425" wrap="square" tIns="91425">
            <a:normAutofit lnSpcReduction="20000"/>
          </a:bodyPr>
          <a:lstStyle/>
          <a:p>
            <a:pPr indent="0" lvl="0" marL="0" rtl="0" algn="l">
              <a:lnSpc>
                <a:spcPct val="95000"/>
              </a:lnSpc>
              <a:spcBef>
                <a:spcPts val="0"/>
              </a:spcBef>
              <a:spcAft>
                <a:spcPts val="0"/>
              </a:spcAft>
              <a:buSzPts val="1018"/>
              <a:buNone/>
            </a:pPr>
            <a:r>
              <a:rPr lang="en" sz="1465"/>
              <a:t>Age (r ≈ 0.18) and Avg Glucose (r ≈ 0.11)</a:t>
            </a:r>
            <a:endParaRPr sz="1465"/>
          </a:p>
          <a:p>
            <a:pPr indent="0" lvl="0" marL="0" rtl="0" algn="l">
              <a:lnSpc>
                <a:spcPct val="95000"/>
              </a:lnSpc>
              <a:spcBef>
                <a:spcPts val="1200"/>
              </a:spcBef>
              <a:spcAft>
                <a:spcPts val="0"/>
              </a:spcAft>
              <a:buSzPts val="1018"/>
              <a:buNone/>
            </a:pPr>
            <a:r>
              <a:rPr lang="en" sz="1465"/>
              <a:t>show the strongest positive correlations with stroke.</a:t>
            </a:r>
            <a:endParaRPr sz="1465"/>
          </a:p>
          <a:p>
            <a:pPr indent="0" lvl="0" marL="0" rtl="0" algn="l">
              <a:lnSpc>
                <a:spcPct val="95000"/>
              </a:lnSpc>
              <a:spcBef>
                <a:spcPts val="1200"/>
              </a:spcBef>
              <a:spcAft>
                <a:spcPts val="0"/>
              </a:spcAft>
              <a:buSzPts val="1018"/>
              <a:buNone/>
            </a:pPr>
            <a:r>
              <a:t/>
            </a:r>
            <a:endParaRPr sz="1465"/>
          </a:p>
          <a:p>
            <a:pPr indent="0" lvl="0" marL="0" rtl="0" algn="l">
              <a:lnSpc>
                <a:spcPct val="95000"/>
              </a:lnSpc>
              <a:spcBef>
                <a:spcPts val="1200"/>
              </a:spcBef>
              <a:spcAft>
                <a:spcPts val="0"/>
              </a:spcAft>
              <a:buSzPts val="1018"/>
              <a:buNone/>
            </a:pPr>
            <a:r>
              <a:rPr lang="en" sz="1465"/>
              <a:t>Age × Glucose interaction (r ≈ 0.16)</a:t>
            </a:r>
            <a:endParaRPr sz="1465"/>
          </a:p>
          <a:p>
            <a:pPr indent="0" lvl="0" marL="0" rtl="0" algn="l">
              <a:lnSpc>
                <a:spcPct val="95000"/>
              </a:lnSpc>
              <a:spcBef>
                <a:spcPts val="1200"/>
              </a:spcBef>
              <a:spcAft>
                <a:spcPts val="0"/>
              </a:spcAft>
              <a:buSzPts val="1018"/>
              <a:buNone/>
            </a:pPr>
            <a:r>
              <a:rPr lang="en" sz="1465"/>
              <a:t>provides additional predictive strength.</a:t>
            </a:r>
            <a:endParaRPr sz="1465"/>
          </a:p>
          <a:p>
            <a:pPr indent="0" lvl="0" marL="0" rtl="0" algn="l">
              <a:lnSpc>
                <a:spcPct val="95000"/>
              </a:lnSpc>
              <a:spcBef>
                <a:spcPts val="1200"/>
              </a:spcBef>
              <a:spcAft>
                <a:spcPts val="0"/>
              </a:spcAft>
              <a:buSzPts val="1018"/>
              <a:buNone/>
            </a:pPr>
            <a:r>
              <a:t/>
            </a:r>
            <a:endParaRPr sz="1465"/>
          </a:p>
          <a:p>
            <a:pPr indent="0" lvl="0" marL="0" rtl="0" algn="l">
              <a:lnSpc>
                <a:spcPct val="95000"/>
              </a:lnSpc>
              <a:spcBef>
                <a:spcPts val="1200"/>
              </a:spcBef>
              <a:spcAft>
                <a:spcPts val="0"/>
              </a:spcAft>
              <a:buSzPts val="1018"/>
              <a:buNone/>
            </a:pPr>
            <a:r>
              <a:rPr lang="en" sz="1465"/>
              <a:t>Hypertension × Heart Disease (r ≈ 0.05)</a:t>
            </a:r>
            <a:endParaRPr sz="1465"/>
          </a:p>
          <a:p>
            <a:pPr indent="0" lvl="0" marL="0" rtl="0" algn="l">
              <a:lnSpc>
                <a:spcPct val="95000"/>
              </a:lnSpc>
              <a:spcBef>
                <a:spcPts val="1200"/>
              </a:spcBef>
              <a:spcAft>
                <a:spcPts val="0"/>
              </a:spcAft>
              <a:buSzPts val="1018"/>
              <a:buNone/>
            </a:pPr>
            <a:r>
              <a:rPr lang="en" sz="1465"/>
              <a:t>shows only a weak association.</a:t>
            </a:r>
            <a:endParaRPr sz="1465"/>
          </a:p>
          <a:p>
            <a:pPr indent="0" lvl="0" marL="0" rtl="0" algn="l">
              <a:lnSpc>
                <a:spcPct val="95000"/>
              </a:lnSpc>
              <a:spcBef>
                <a:spcPts val="1200"/>
              </a:spcBef>
              <a:spcAft>
                <a:spcPts val="0"/>
              </a:spcAft>
              <a:buSzPts val="1018"/>
              <a:buNone/>
            </a:pPr>
            <a:r>
              <a:t/>
            </a:r>
            <a:endParaRPr sz="1465"/>
          </a:p>
          <a:p>
            <a:pPr indent="0" lvl="0" marL="0" rtl="0" algn="l">
              <a:lnSpc>
                <a:spcPct val="95000"/>
              </a:lnSpc>
              <a:spcBef>
                <a:spcPts val="1200"/>
              </a:spcBef>
              <a:spcAft>
                <a:spcPts val="0"/>
              </a:spcAft>
              <a:buSzPts val="1018"/>
              <a:buNone/>
            </a:pPr>
            <a:r>
              <a:rPr lang="en" sz="1465"/>
              <a:t>BMI (r ≈ –0.00)</a:t>
            </a:r>
            <a:endParaRPr sz="1465"/>
          </a:p>
          <a:p>
            <a:pPr indent="0" lvl="0" marL="0" rtl="0" algn="l">
              <a:lnSpc>
                <a:spcPct val="95000"/>
              </a:lnSpc>
              <a:spcBef>
                <a:spcPts val="1200"/>
              </a:spcBef>
              <a:spcAft>
                <a:spcPts val="1200"/>
              </a:spcAft>
              <a:buSzPts val="1018"/>
              <a:buNone/>
            </a:pPr>
            <a:r>
              <a:rPr lang="en" sz="1465"/>
              <a:t>has virtually no correlation with stroke risk.</a:t>
            </a:r>
            <a:endParaRPr sz="1465"/>
          </a:p>
        </p:txBody>
      </p:sp>
      <p:pic>
        <p:nvPicPr>
          <p:cNvPr id="270" name="Google Shape;270;p41"/>
          <p:cNvPicPr preferRelativeResize="0"/>
          <p:nvPr/>
        </p:nvPicPr>
        <p:blipFill>
          <a:blip r:embed="rId3">
            <a:alphaModFix/>
          </a:blip>
          <a:stretch>
            <a:fillRect/>
          </a:stretch>
        </p:blipFill>
        <p:spPr>
          <a:xfrm>
            <a:off x="3939725" y="928500"/>
            <a:ext cx="4819650" cy="381952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Class Imbalance, Normality Testing &amp; Motivation for SMOTE</a:t>
            </a:r>
            <a:endParaRPr/>
          </a:p>
        </p:txBody>
      </p:sp>
      <p:sp>
        <p:nvSpPr>
          <p:cNvPr id="276" name="Google Shape;276;p42"/>
          <p:cNvSpPr txBox="1"/>
          <p:nvPr>
            <p:ph idx="1" type="body"/>
          </p:nvPr>
        </p:nvSpPr>
        <p:spPr>
          <a:xfrm>
            <a:off x="311700" y="1152475"/>
            <a:ext cx="5337000" cy="37839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t>Stroke Case Imbalance (Ages 50–80)</a:t>
            </a:r>
            <a:endParaRPr/>
          </a:p>
          <a:p>
            <a:pPr indent="-325755" lvl="0" marL="457200" rtl="0" algn="l">
              <a:spcBef>
                <a:spcPts val="1200"/>
              </a:spcBef>
              <a:spcAft>
                <a:spcPts val="0"/>
              </a:spcAft>
              <a:buSzPct val="100000"/>
              <a:buChar char="●"/>
            </a:pPr>
            <a:r>
              <a:rPr lang="en"/>
              <a:t>No </a:t>
            </a:r>
            <a:r>
              <a:rPr lang="en"/>
              <a:t>S</a:t>
            </a:r>
            <a:r>
              <a:rPr lang="en"/>
              <a:t>troke: 1888</a:t>
            </a:r>
            <a:endParaRPr/>
          </a:p>
          <a:p>
            <a:pPr indent="-325755" lvl="0" marL="457200" rtl="0" algn="l">
              <a:spcBef>
                <a:spcPts val="0"/>
              </a:spcBef>
              <a:spcAft>
                <a:spcPts val="0"/>
              </a:spcAft>
              <a:buSzPct val="100000"/>
              <a:buChar char="●"/>
            </a:pPr>
            <a:r>
              <a:rPr lang="en"/>
              <a:t>Stroke: 206</a:t>
            </a:r>
            <a:endParaRPr/>
          </a:p>
          <a:p>
            <a:pPr indent="0" lvl="0" marL="0" rtl="0" algn="l">
              <a:spcBef>
                <a:spcPts val="1200"/>
              </a:spcBef>
              <a:spcAft>
                <a:spcPts val="0"/>
              </a:spcAft>
              <a:buNone/>
            </a:pPr>
            <a:r>
              <a:rPr lang="en"/>
              <a:t> Dataset is highly imbalanced, causing bias toward “No Stroke.”</a:t>
            </a:r>
            <a:endParaRPr/>
          </a:p>
          <a:p>
            <a:pPr indent="0" lvl="0" marL="0" rtl="0" algn="l">
              <a:spcBef>
                <a:spcPts val="1200"/>
              </a:spcBef>
              <a:spcAft>
                <a:spcPts val="0"/>
              </a:spcAft>
              <a:buNone/>
            </a:pPr>
            <a:r>
              <a:rPr lang="en"/>
              <a:t>Training/Test Split</a:t>
            </a:r>
            <a:endParaRPr/>
          </a:p>
          <a:p>
            <a:pPr indent="-325755" lvl="0" marL="457200" rtl="0" algn="l">
              <a:spcBef>
                <a:spcPts val="1200"/>
              </a:spcBef>
              <a:spcAft>
                <a:spcPts val="0"/>
              </a:spcAft>
              <a:buSzPct val="100000"/>
              <a:buChar char="●"/>
            </a:pPr>
            <a:r>
              <a:rPr lang="en"/>
              <a:t>70% Training Set (used for SMOTE)</a:t>
            </a:r>
            <a:endParaRPr/>
          </a:p>
          <a:p>
            <a:pPr indent="-325755" lvl="0" marL="457200" rtl="0" algn="l">
              <a:spcBef>
                <a:spcPts val="0"/>
              </a:spcBef>
              <a:spcAft>
                <a:spcPts val="0"/>
              </a:spcAft>
              <a:buSzPct val="100000"/>
              <a:buChar char="●"/>
            </a:pPr>
            <a:r>
              <a:rPr lang="en"/>
              <a:t>30% Testing Set (kept unchanged for real-world evaluation)</a:t>
            </a:r>
            <a:endParaRPr/>
          </a:p>
          <a:p>
            <a:pPr indent="0" lvl="0" marL="0" rtl="0" algn="l">
              <a:spcBef>
                <a:spcPts val="1200"/>
              </a:spcBef>
              <a:spcAft>
                <a:spcPts val="0"/>
              </a:spcAft>
              <a:buNone/>
            </a:pPr>
            <a:r>
              <a:rPr lang="en"/>
              <a:t>Training Set BEFORE SMOTE</a:t>
            </a:r>
            <a:endParaRPr/>
          </a:p>
          <a:p>
            <a:pPr indent="-325755" lvl="0" marL="457200" rtl="0" algn="l">
              <a:spcBef>
                <a:spcPts val="1200"/>
              </a:spcBef>
              <a:spcAft>
                <a:spcPts val="0"/>
              </a:spcAft>
              <a:buSzPct val="100000"/>
              <a:buChar char="●"/>
            </a:pPr>
            <a:r>
              <a:rPr lang="en"/>
              <a:t>No Stroke: 1321</a:t>
            </a:r>
            <a:endParaRPr/>
          </a:p>
          <a:p>
            <a:pPr indent="-325755" lvl="0" marL="457200" rtl="0" algn="l">
              <a:spcBef>
                <a:spcPts val="0"/>
              </a:spcBef>
              <a:spcAft>
                <a:spcPts val="0"/>
              </a:spcAft>
              <a:buSzPct val="100000"/>
              <a:buChar char="●"/>
            </a:pPr>
            <a:r>
              <a:rPr lang="en"/>
              <a:t>Stroke: 144</a:t>
            </a:r>
            <a:endParaRPr/>
          </a:p>
        </p:txBody>
      </p:sp>
      <p:pic>
        <p:nvPicPr>
          <p:cNvPr id="277" name="Google Shape;277;p42"/>
          <p:cNvPicPr preferRelativeResize="0"/>
          <p:nvPr/>
        </p:nvPicPr>
        <p:blipFill>
          <a:blip r:embed="rId3">
            <a:alphaModFix/>
          </a:blip>
          <a:stretch>
            <a:fillRect/>
          </a:stretch>
        </p:blipFill>
        <p:spPr>
          <a:xfrm>
            <a:off x="5648700" y="1120375"/>
            <a:ext cx="2982300" cy="341507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SMOTE Balancing (Training Set Only)</a:t>
            </a:r>
            <a:endParaRPr/>
          </a:p>
        </p:txBody>
      </p:sp>
      <p:sp>
        <p:nvSpPr>
          <p:cNvPr id="283" name="Google Shape;283;p43"/>
          <p:cNvSpPr txBox="1"/>
          <p:nvPr>
            <p:ph idx="1" type="body"/>
          </p:nvPr>
        </p:nvSpPr>
        <p:spPr>
          <a:xfrm>
            <a:off x="311700" y="1143900"/>
            <a:ext cx="5208900" cy="34164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en"/>
              <a:t>Applied SMOTE to balance the minority class in the training data</a:t>
            </a:r>
            <a:endParaRPr/>
          </a:p>
          <a:p>
            <a:pPr indent="0" lvl="0" marL="0" rtl="0" algn="l">
              <a:spcBef>
                <a:spcPts val="1200"/>
              </a:spcBef>
              <a:spcAft>
                <a:spcPts val="0"/>
              </a:spcAft>
              <a:buNone/>
            </a:pPr>
            <a:r>
              <a:rPr lang="en"/>
              <a:t>Training Set AFTER SMOTE</a:t>
            </a:r>
            <a:endParaRPr/>
          </a:p>
          <a:p>
            <a:pPr indent="-317182" lvl="0" marL="457200" rtl="0" algn="l">
              <a:spcBef>
                <a:spcPts val="1200"/>
              </a:spcBef>
              <a:spcAft>
                <a:spcPts val="0"/>
              </a:spcAft>
              <a:buSzPct val="100000"/>
              <a:buChar char="●"/>
            </a:pPr>
            <a:r>
              <a:rPr lang="en"/>
              <a:t>No Stroke: 1321</a:t>
            </a:r>
            <a:endParaRPr/>
          </a:p>
          <a:p>
            <a:pPr indent="-317182" lvl="0" marL="457200" rtl="0" algn="l">
              <a:spcBef>
                <a:spcPts val="0"/>
              </a:spcBef>
              <a:spcAft>
                <a:spcPts val="0"/>
              </a:spcAft>
              <a:buSzPct val="100000"/>
              <a:buChar char="●"/>
            </a:pPr>
            <a:r>
              <a:rPr lang="en"/>
              <a:t>Strok</a:t>
            </a:r>
            <a:r>
              <a:rPr lang="en"/>
              <a:t>e</a:t>
            </a:r>
            <a:r>
              <a:rPr lang="en"/>
              <a:t>: 1321</a:t>
            </a:r>
            <a:endParaRPr/>
          </a:p>
          <a:p>
            <a:pPr indent="0" lvl="0" marL="0" rtl="0" algn="l">
              <a:spcBef>
                <a:spcPts val="1200"/>
              </a:spcBef>
              <a:spcAft>
                <a:spcPts val="0"/>
              </a:spcAft>
              <a:buNone/>
            </a:pPr>
            <a:r>
              <a:rPr lang="en"/>
              <a:t>Purpose of SMOTE</a:t>
            </a:r>
            <a:endParaRPr/>
          </a:p>
          <a:p>
            <a:pPr indent="-317182" lvl="0" marL="457200" rtl="0" algn="l">
              <a:spcBef>
                <a:spcPts val="1200"/>
              </a:spcBef>
              <a:spcAft>
                <a:spcPts val="0"/>
              </a:spcAft>
              <a:buSzPct val="100000"/>
              <a:buChar char="●"/>
            </a:pPr>
            <a:r>
              <a:rPr lang="en"/>
              <a:t>Reduce bias toward majority class</a:t>
            </a:r>
            <a:endParaRPr/>
          </a:p>
          <a:p>
            <a:pPr indent="-317182" lvl="0" marL="457200" rtl="0" algn="l">
              <a:spcBef>
                <a:spcPts val="0"/>
              </a:spcBef>
              <a:spcAft>
                <a:spcPts val="0"/>
              </a:spcAft>
              <a:buSzPct val="100000"/>
              <a:buChar char="●"/>
            </a:pPr>
            <a:r>
              <a:rPr lang="en"/>
              <a:t>Improve detection of stroke cases (recall/sensitivity)</a:t>
            </a:r>
            <a:endParaRPr/>
          </a:p>
          <a:p>
            <a:pPr indent="-317182" lvl="0" marL="457200" rtl="0" algn="l">
              <a:spcBef>
                <a:spcPts val="0"/>
              </a:spcBef>
              <a:spcAft>
                <a:spcPts val="0"/>
              </a:spcAft>
              <a:buSzPct val="100000"/>
              <a:buChar char="●"/>
            </a:pPr>
            <a:r>
              <a:rPr lang="en"/>
              <a:t>Keep test set unchanged to maintain real-world distribution</a:t>
            </a:r>
            <a:endParaRPr/>
          </a:p>
          <a:p>
            <a:pPr indent="-317182" lvl="0" marL="457200" rtl="0" algn="l">
              <a:spcBef>
                <a:spcPts val="0"/>
              </a:spcBef>
              <a:spcAft>
                <a:spcPts val="0"/>
              </a:spcAft>
              <a:buSzPct val="100000"/>
              <a:buChar char="●"/>
            </a:pPr>
            <a:r>
              <a:rPr lang="en"/>
              <a:t>Avoid artificially inflating evaluation results</a:t>
            </a:r>
            <a:endParaRPr/>
          </a:p>
          <a:p>
            <a:pPr indent="-317182" lvl="0" marL="457200" rtl="0" algn="l">
              <a:spcBef>
                <a:spcPts val="0"/>
              </a:spcBef>
              <a:spcAft>
                <a:spcPts val="0"/>
              </a:spcAft>
              <a:buSzPct val="100000"/>
              <a:buChar char="●"/>
            </a:pPr>
            <a:r>
              <a:rPr lang="en"/>
              <a:t>SMOTE generated synthetic stroke cases using a k nearest neighbor approach applied to the training data.</a:t>
            </a:r>
            <a:endParaRPr/>
          </a:p>
        </p:txBody>
      </p:sp>
      <p:pic>
        <p:nvPicPr>
          <p:cNvPr id="284" name="Google Shape;284;p43"/>
          <p:cNvPicPr preferRelativeResize="0"/>
          <p:nvPr/>
        </p:nvPicPr>
        <p:blipFill>
          <a:blip r:embed="rId3">
            <a:alphaModFix/>
          </a:blip>
          <a:stretch>
            <a:fillRect/>
          </a:stretch>
        </p:blipFill>
        <p:spPr>
          <a:xfrm>
            <a:off x="5520600" y="1109937"/>
            <a:ext cx="3368775" cy="3008338"/>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Train vs Test Dataset</a:t>
            </a:r>
            <a:endParaRPr/>
          </a:p>
        </p:txBody>
      </p:sp>
      <p:sp>
        <p:nvSpPr>
          <p:cNvPr id="290" name="Google Shape;290;p44"/>
          <p:cNvSpPr txBox="1"/>
          <p:nvPr>
            <p:ph idx="1" type="body"/>
          </p:nvPr>
        </p:nvSpPr>
        <p:spPr>
          <a:xfrm>
            <a:off x="311700" y="935075"/>
            <a:ext cx="4171800" cy="38031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605"/>
              <a:buNone/>
            </a:pPr>
            <a:r>
              <a:rPr lang="en" sz="1090"/>
              <a:t>The training set initially showed a strong class imbalance</a:t>
            </a:r>
            <a:endParaRPr sz="1090"/>
          </a:p>
          <a:p>
            <a:pPr indent="-297815" lvl="0" marL="457200" rtl="0" algn="l">
              <a:lnSpc>
                <a:spcPct val="95000"/>
              </a:lnSpc>
              <a:spcBef>
                <a:spcPts val="1200"/>
              </a:spcBef>
              <a:spcAft>
                <a:spcPts val="0"/>
              </a:spcAft>
              <a:buSzPts val="1090"/>
              <a:buChar char="●"/>
            </a:pPr>
            <a:r>
              <a:rPr lang="en" sz="1090"/>
              <a:t>(144 stroke vs. 1321 non-stroke).</a:t>
            </a:r>
            <a:endParaRPr sz="1090"/>
          </a:p>
          <a:p>
            <a:pPr indent="0" lvl="0" marL="0" rtl="0" algn="l">
              <a:lnSpc>
                <a:spcPct val="95000"/>
              </a:lnSpc>
              <a:spcBef>
                <a:spcPts val="1200"/>
              </a:spcBef>
              <a:spcAft>
                <a:spcPts val="0"/>
              </a:spcAft>
              <a:buSzPts val="605"/>
              <a:buNone/>
            </a:pPr>
            <a:r>
              <a:rPr lang="en" sz="1090"/>
              <a:t>SMOTE was applied only to the training set, creating a balanced dataset</a:t>
            </a:r>
            <a:endParaRPr sz="1090"/>
          </a:p>
          <a:p>
            <a:pPr indent="-297815" lvl="0" marL="457200" rtl="0" algn="l">
              <a:lnSpc>
                <a:spcPct val="95000"/>
              </a:lnSpc>
              <a:spcBef>
                <a:spcPts val="1200"/>
              </a:spcBef>
              <a:spcAft>
                <a:spcPts val="0"/>
              </a:spcAft>
              <a:buSzPts val="1090"/>
              <a:buChar char="●"/>
            </a:pPr>
            <a:r>
              <a:rPr lang="en" sz="1090"/>
              <a:t>(1321 stroke vs. 1321 non-stroke).</a:t>
            </a:r>
            <a:endParaRPr sz="1090"/>
          </a:p>
          <a:p>
            <a:pPr indent="0" lvl="0" marL="0" rtl="0" algn="l">
              <a:lnSpc>
                <a:spcPct val="95000"/>
              </a:lnSpc>
              <a:spcBef>
                <a:spcPts val="1200"/>
              </a:spcBef>
              <a:spcAft>
                <a:spcPts val="0"/>
              </a:spcAft>
              <a:buSzPts val="605"/>
              <a:buNone/>
            </a:pPr>
            <a:r>
              <a:rPr lang="en" sz="1090"/>
              <a:t>The test set was left unchanged to preserve real-world conditions</a:t>
            </a:r>
            <a:endParaRPr sz="1090"/>
          </a:p>
          <a:p>
            <a:pPr indent="-297815" lvl="0" marL="457200" rtl="0" algn="l">
              <a:lnSpc>
                <a:spcPct val="95000"/>
              </a:lnSpc>
              <a:spcBef>
                <a:spcPts val="1200"/>
              </a:spcBef>
              <a:spcAft>
                <a:spcPts val="0"/>
              </a:spcAft>
              <a:buSzPts val="1090"/>
              <a:buChar char="●"/>
            </a:pPr>
            <a:r>
              <a:rPr lang="en" sz="1090"/>
              <a:t>(62 stroke vs. 567 non-stroke).</a:t>
            </a:r>
            <a:endParaRPr sz="1090"/>
          </a:p>
          <a:p>
            <a:pPr indent="0" lvl="0" marL="0" rtl="0" algn="l">
              <a:lnSpc>
                <a:spcPct val="95000"/>
              </a:lnSpc>
              <a:spcBef>
                <a:spcPts val="1200"/>
              </a:spcBef>
              <a:spcAft>
                <a:spcPts val="0"/>
              </a:spcAft>
              <a:buSzPts val="605"/>
              <a:buNone/>
            </a:pPr>
            <a:r>
              <a:rPr lang="en" sz="1090"/>
              <a:t>Random Sampling and Data Split</a:t>
            </a:r>
            <a:endParaRPr sz="1090"/>
          </a:p>
          <a:p>
            <a:pPr indent="-297815" lvl="0" marL="457200" rtl="0" algn="l">
              <a:lnSpc>
                <a:spcPct val="95000"/>
              </a:lnSpc>
              <a:spcBef>
                <a:spcPts val="1200"/>
              </a:spcBef>
              <a:spcAft>
                <a:spcPts val="0"/>
              </a:spcAft>
              <a:buSzPts val="1090"/>
              <a:buChar char="●"/>
            </a:pPr>
            <a:r>
              <a:rPr lang="en" sz="1090"/>
              <a:t>The dataset was split into training and testing sets using random stratified sampling.</a:t>
            </a:r>
            <a:endParaRPr sz="1090"/>
          </a:p>
          <a:p>
            <a:pPr indent="-297815" lvl="0" marL="457200" rtl="0" algn="l">
              <a:lnSpc>
                <a:spcPct val="95000"/>
              </a:lnSpc>
              <a:spcBef>
                <a:spcPts val="0"/>
              </a:spcBef>
              <a:spcAft>
                <a:spcPts val="0"/>
              </a:spcAft>
              <a:buSzPts val="1090"/>
              <a:buChar char="●"/>
            </a:pPr>
            <a:r>
              <a:rPr lang="en" sz="1090"/>
              <a:t>Seve</a:t>
            </a:r>
            <a:r>
              <a:rPr lang="en" sz="1090"/>
              <a:t>n</a:t>
            </a:r>
            <a:r>
              <a:rPr lang="en" sz="1090"/>
              <a:t>ty percent of the data was randomly assigned to the training set and thirty percent to the test set.</a:t>
            </a:r>
            <a:endParaRPr sz="1090"/>
          </a:p>
          <a:p>
            <a:pPr indent="-297815" lvl="0" marL="457200" rtl="0" algn="l">
              <a:lnSpc>
                <a:spcPct val="95000"/>
              </a:lnSpc>
              <a:spcBef>
                <a:spcPts val="0"/>
              </a:spcBef>
              <a:spcAft>
                <a:spcPts val="0"/>
              </a:spcAft>
              <a:buSzPts val="1090"/>
              <a:buChar char="●"/>
            </a:pPr>
            <a:r>
              <a:rPr lang="en" sz="1090"/>
              <a:t>Stratification ensured that stroke and non-stroke cases were proportionally represented in both sets.</a:t>
            </a:r>
            <a:endParaRPr sz="1090"/>
          </a:p>
          <a:p>
            <a:pPr indent="0" lvl="0" marL="0" rtl="0" algn="l">
              <a:lnSpc>
                <a:spcPct val="95000"/>
              </a:lnSpc>
              <a:spcBef>
                <a:spcPts val="1200"/>
              </a:spcBef>
              <a:spcAft>
                <a:spcPts val="1200"/>
              </a:spcAft>
              <a:buSzPts val="605"/>
              <a:buNone/>
            </a:pPr>
            <a:r>
              <a:rPr lang="en" sz="1090"/>
              <a:t>Balancing only the training data improves the model’s ability to detect stroke cases while ensuring that evaluation on the test set remains realistic and unbiased.</a:t>
            </a:r>
            <a:endParaRPr sz="1090"/>
          </a:p>
        </p:txBody>
      </p:sp>
      <p:graphicFrame>
        <p:nvGraphicFramePr>
          <p:cNvPr id="291" name="Google Shape;291;p44"/>
          <p:cNvGraphicFramePr/>
          <p:nvPr/>
        </p:nvGraphicFramePr>
        <p:xfrm>
          <a:off x="4616975" y="238650"/>
          <a:ext cx="3000000" cy="3000000"/>
        </p:xfrm>
        <a:graphic>
          <a:graphicData uri="http://schemas.openxmlformats.org/drawingml/2006/table">
            <a:tbl>
              <a:tblPr>
                <a:noFill/>
                <a:tableStyleId>{722DC115-1704-4F57-AA10-7547003446CC}</a:tableStyleId>
              </a:tblPr>
              <a:tblGrid>
                <a:gridCol w="1390600"/>
                <a:gridCol w="1390600"/>
                <a:gridCol w="1390600"/>
              </a:tblGrid>
              <a:tr h="627325">
                <a:tc>
                  <a:txBody>
                    <a:bodyPr/>
                    <a:lstStyle/>
                    <a:p>
                      <a:pPr indent="0" lvl="0" marL="0" rtl="0" algn="l">
                        <a:spcBef>
                          <a:spcPts val="0"/>
                        </a:spcBef>
                        <a:spcAft>
                          <a:spcPts val="0"/>
                        </a:spcAft>
                        <a:buNone/>
                      </a:pPr>
                      <a:r>
                        <a:rPr lang="en">
                          <a:solidFill>
                            <a:schemeClr val="accent3"/>
                          </a:solidFill>
                          <a:latin typeface="Proxima Nova"/>
                          <a:ea typeface="Proxima Nova"/>
                          <a:cs typeface="Proxima Nova"/>
                          <a:sym typeface="Proxima Nova"/>
                        </a:rPr>
                        <a:t>Dataset</a:t>
                      </a:r>
                      <a:endParaRPr>
                        <a:solidFill>
                          <a:schemeClr val="accent3"/>
                        </a:solidFill>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rPr lang="en">
                          <a:solidFill>
                            <a:schemeClr val="accent3"/>
                          </a:solidFill>
                          <a:latin typeface="Proxima Nova"/>
                          <a:ea typeface="Proxima Nova"/>
                          <a:cs typeface="Proxima Nova"/>
                          <a:sym typeface="Proxima Nova"/>
                        </a:rPr>
                        <a:t>Stroke</a:t>
                      </a:r>
                      <a:endParaRPr>
                        <a:solidFill>
                          <a:schemeClr val="accent3"/>
                        </a:solidFill>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rPr lang="en">
                          <a:solidFill>
                            <a:schemeClr val="accent3"/>
                          </a:solidFill>
                          <a:latin typeface="Proxima Nova"/>
                          <a:ea typeface="Proxima Nova"/>
                          <a:cs typeface="Proxima Nova"/>
                          <a:sym typeface="Proxima Nova"/>
                        </a:rPr>
                        <a:t>No STroke</a:t>
                      </a:r>
                      <a:endParaRPr>
                        <a:solidFill>
                          <a:schemeClr val="accent3"/>
                        </a:solidFill>
                        <a:latin typeface="Proxima Nova"/>
                        <a:ea typeface="Proxima Nova"/>
                        <a:cs typeface="Proxima Nova"/>
                        <a:sym typeface="Proxima Nova"/>
                      </a:endParaRPr>
                    </a:p>
                  </a:txBody>
                  <a:tcPr marT="91425" marB="91425" marR="91425" marL="91425"/>
                </a:tc>
              </a:tr>
              <a:tr h="965150">
                <a:tc>
                  <a:txBody>
                    <a:bodyPr/>
                    <a:lstStyle/>
                    <a:p>
                      <a:pPr indent="0" lvl="0" marL="0" rtl="0" algn="l">
                        <a:spcBef>
                          <a:spcPts val="0"/>
                        </a:spcBef>
                        <a:spcAft>
                          <a:spcPts val="0"/>
                        </a:spcAft>
                        <a:buNone/>
                      </a:pPr>
                      <a:r>
                        <a:rPr lang="en">
                          <a:solidFill>
                            <a:schemeClr val="accent3"/>
                          </a:solidFill>
                          <a:latin typeface="Proxima Nova"/>
                          <a:ea typeface="Proxima Nova"/>
                          <a:cs typeface="Proxima Nova"/>
                          <a:sym typeface="Proxima Nova"/>
                        </a:rPr>
                        <a:t>Train (Before SMOTE)</a:t>
                      </a:r>
                      <a:endParaRPr>
                        <a:solidFill>
                          <a:schemeClr val="accent3"/>
                        </a:solidFill>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rPr lang="en">
                          <a:solidFill>
                            <a:schemeClr val="accent3"/>
                          </a:solidFill>
                          <a:latin typeface="Proxima Nova"/>
                          <a:ea typeface="Proxima Nova"/>
                          <a:cs typeface="Proxima Nova"/>
                          <a:sym typeface="Proxima Nova"/>
                        </a:rPr>
                        <a:t>144</a:t>
                      </a:r>
                      <a:endParaRPr>
                        <a:solidFill>
                          <a:schemeClr val="accent3"/>
                        </a:solidFill>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rPr lang="en">
                          <a:solidFill>
                            <a:schemeClr val="accent3"/>
                          </a:solidFill>
                          <a:latin typeface="Proxima Nova"/>
                          <a:ea typeface="Proxima Nova"/>
                          <a:cs typeface="Proxima Nova"/>
                          <a:sym typeface="Proxima Nova"/>
                        </a:rPr>
                        <a:t>1321</a:t>
                      </a:r>
                      <a:endParaRPr>
                        <a:solidFill>
                          <a:schemeClr val="accent3"/>
                        </a:solidFill>
                        <a:latin typeface="Proxima Nova"/>
                        <a:ea typeface="Proxima Nova"/>
                        <a:cs typeface="Proxima Nova"/>
                        <a:sym typeface="Proxima Nova"/>
                      </a:endParaRPr>
                    </a:p>
                  </a:txBody>
                  <a:tcPr marT="91425" marB="91425" marR="91425" marL="91425"/>
                </a:tc>
              </a:tr>
              <a:tr h="965150">
                <a:tc>
                  <a:txBody>
                    <a:bodyPr/>
                    <a:lstStyle/>
                    <a:p>
                      <a:pPr indent="0" lvl="0" marL="0" rtl="0" algn="l">
                        <a:spcBef>
                          <a:spcPts val="0"/>
                        </a:spcBef>
                        <a:spcAft>
                          <a:spcPts val="0"/>
                        </a:spcAft>
                        <a:buNone/>
                      </a:pPr>
                      <a:r>
                        <a:rPr lang="en">
                          <a:solidFill>
                            <a:schemeClr val="accent3"/>
                          </a:solidFill>
                          <a:latin typeface="Proxima Nova"/>
                          <a:ea typeface="Proxima Nova"/>
                          <a:cs typeface="Proxima Nova"/>
                          <a:sym typeface="Proxima Nova"/>
                        </a:rPr>
                        <a:t>Train (After SMOTE)</a:t>
                      </a:r>
                      <a:endParaRPr>
                        <a:solidFill>
                          <a:schemeClr val="accent3"/>
                        </a:solidFill>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rPr lang="en">
                          <a:solidFill>
                            <a:schemeClr val="accent3"/>
                          </a:solidFill>
                          <a:latin typeface="Proxima Nova"/>
                          <a:ea typeface="Proxima Nova"/>
                          <a:cs typeface="Proxima Nova"/>
                          <a:sym typeface="Proxima Nova"/>
                        </a:rPr>
                        <a:t>1321</a:t>
                      </a:r>
                      <a:endParaRPr>
                        <a:solidFill>
                          <a:schemeClr val="accent3"/>
                        </a:solidFill>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rPr lang="en">
                          <a:solidFill>
                            <a:schemeClr val="accent3"/>
                          </a:solidFill>
                          <a:latin typeface="Proxima Nova"/>
                          <a:ea typeface="Proxima Nova"/>
                          <a:cs typeface="Proxima Nova"/>
                          <a:sym typeface="Proxima Nova"/>
                        </a:rPr>
                        <a:t>1321</a:t>
                      </a:r>
                      <a:endParaRPr>
                        <a:solidFill>
                          <a:schemeClr val="accent3"/>
                        </a:solidFill>
                        <a:latin typeface="Proxima Nova"/>
                        <a:ea typeface="Proxima Nova"/>
                        <a:cs typeface="Proxima Nova"/>
                        <a:sym typeface="Proxima Nova"/>
                      </a:endParaRPr>
                    </a:p>
                  </a:txBody>
                  <a:tcPr marT="91425" marB="91425" marR="91425" marL="91425"/>
                </a:tc>
              </a:tr>
              <a:tr h="627325">
                <a:tc>
                  <a:txBody>
                    <a:bodyPr/>
                    <a:lstStyle/>
                    <a:p>
                      <a:pPr indent="0" lvl="0" marL="0" rtl="0" algn="l">
                        <a:spcBef>
                          <a:spcPts val="0"/>
                        </a:spcBef>
                        <a:spcAft>
                          <a:spcPts val="0"/>
                        </a:spcAft>
                        <a:buNone/>
                      </a:pPr>
                      <a:r>
                        <a:rPr lang="en">
                          <a:solidFill>
                            <a:schemeClr val="accent3"/>
                          </a:solidFill>
                          <a:latin typeface="Proxima Nova"/>
                          <a:ea typeface="Proxima Nova"/>
                          <a:cs typeface="Proxima Nova"/>
                          <a:sym typeface="Proxima Nova"/>
                        </a:rPr>
                        <a:t>Test Set</a:t>
                      </a:r>
                      <a:endParaRPr>
                        <a:solidFill>
                          <a:schemeClr val="accent3"/>
                        </a:solidFill>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rPr lang="en">
                          <a:solidFill>
                            <a:schemeClr val="accent3"/>
                          </a:solidFill>
                          <a:latin typeface="Proxima Nova"/>
                          <a:ea typeface="Proxima Nova"/>
                          <a:cs typeface="Proxima Nova"/>
                          <a:sym typeface="Proxima Nova"/>
                        </a:rPr>
                        <a:t>62</a:t>
                      </a:r>
                      <a:endParaRPr>
                        <a:solidFill>
                          <a:schemeClr val="accent3"/>
                        </a:solidFill>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rPr lang="en">
                          <a:solidFill>
                            <a:schemeClr val="accent3"/>
                          </a:solidFill>
                          <a:latin typeface="Proxima Nova"/>
                          <a:ea typeface="Proxima Nova"/>
                          <a:cs typeface="Proxima Nova"/>
                          <a:sym typeface="Proxima Nova"/>
                        </a:rPr>
                        <a:t>567</a:t>
                      </a:r>
                      <a:endParaRPr>
                        <a:solidFill>
                          <a:schemeClr val="accent3"/>
                        </a:solidFill>
                        <a:latin typeface="Proxima Nova"/>
                        <a:ea typeface="Proxima Nova"/>
                        <a:cs typeface="Proxima Nova"/>
                        <a:sym typeface="Proxima Nova"/>
                      </a:endParaRPr>
                    </a:p>
                  </a:txBody>
                  <a:tcPr marT="91425" marB="91425" marR="91425" marL="91425"/>
                </a:tc>
              </a:tr>
            </a:tbl>
          </a:graphicData>
        </a:graphic>
      </p:graphicFrame>
      <p:pic>
        <p:nvPicPr>
          <p:cNvPr id="292" name="Google Shape;292;p44"/>
          <p:cNvPicPr preferRelativeResize="0"/>
          <p:nvPr/>
        </p:nvPicPr>
        <p:blipFill>
          <a:blip r:embed="rId3">
            <a:alphaModFix/>
          </a:blip>
          <a:stretch>
            <a:fillRect/>
          </a:stretch>
        </p:blipFill>
        <p:spPr>
          <a:xfrm>
            <a:off x="4635900" y="3576000"/>
            <a:ext cx="4355700" cy="710372"/>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Logistic Regression </a:t>
            </a:r>
            <a:endParaRPr/>
          </a:p>
        </p:txBody>
      </p:sp>
      <p:sp>
        <p:nvSpPr>
          <p:cNvPr id="298" name="Google Shape;298;p45"/>
          <p:cNvSpPr txBox="1"/>
          <p:nvPr>
            <p:ph idx="1" type="body"/>
          </p:nvPr>
        </p:nvSpPr>
        <p:spPr>
          <a:xfrm>
            <a:off x="311700" y="1152475"/>
            <a:ext cx="3427500" cy="36549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rPr lang="en"/>
              <a:t>Accuracy: 67%</a:t>
            </a:r>
            <a:endParaRPr/>
          </a:p>
          <a:p>
            <a:pPr indent="0" lvl="0" marL="0" rtl="0" algn="l">
              <a:spcBef>
                <a:spcPts val="1200"/>
              </a:spcBef>
              <a:spcAft>
                <a:spcPts val="0"/>
              </a:spcAft>
              <a:buNone/>
            </a:pPr>
            <a:r>
              <a:rPr lang="en"/>
              <a:t>Stroke recall: 63% (correctly finds most stroke cases)</a:t>
            </a:r>
            <a:endParaRPr/>
          </a:p>
          <a:p>
            <a:pPr indent="0" lvl="0" marL="0" rtl="0" algn="l">
              <a:spcBef>
                <a:spcPts val="1200"/>
              </a:spcBef>
              <a:spcAft>
                <a:spcPts val="0"/>
              </a:spcAft>
              <a:buNone/>
            </a:pPr>
            <a:r>
              <a:rPr lang="en"/>
              <a:t>Stroke precision: 17% (but makes many false positives)</a:t>
            </a:r>
            <a:endParaRPr/>
          </a:p>
          <a:p>
            <a:pPr indent="0" lvl="0" marL="0" rtl="0" algn="l">
              <a:spcBef>
                <a:spcPts val="1200"/>
              </a:spcBef>
              <a:spcAft>
                <a:spcPts val="0"/>
              </a:spcAft>
              <a:buNone/>
            </a:pPr>
            <a:r>
              <a:rPr lang="en"/>
              <a:t>Non-stroke performance: strong (94% precision)</a:t>
            </a:r>
            <a:endParaRPr/>
          </a:p>
          <a:p>
            <a:pPr indent="0" lvl="0" marL="0" rtl="0" algn="l">
              <a:spcBef>
                <a:spcPts val="1200"/>
              </a:spcBef>
              <a:spcAft>
                <a:spcPts val="1200"/>
              </a:spcAft>
              <a:buNone/>
            </a:pPr>
            <a:r>
              <a:rPr lang="en"/>
              <a:t>Interpretation: Model detects strokes but struggles to be precise due to small true-stroke sample.</a:t>
            </a:r>
            <a:endParaRPr/>
          </a:p>
        </p:txBody>
      </p:sp>
      <p:pic>
        <p:nvPicPr>
          <p:cNvPr id="299" name="Google Shape;299;p45"/>
          <p:cNvPicPr preferRelativeResize="0"/>
          <p:nvPr/>
        </p:nvPicPr>
        <p:blipFill>
          <a:blip r:embed="rId3">
            <a:alphaModFix/>
          </a:blip>
          <a:stretch>
            <a:fillRect/>
          </a:stretch>
        </p:blipFill>
        <p:spPr>
          <a:xfrm>
            <a:off x="4126913" y="1017713"/>
            <a:ext cx="3933825" cy="1685925"/>
          </a:xfrm>
          <a:prstGeom prst="rect">
            <a:avLst/>
          </a:prstGeom>
          <a:noFill/>
          <a:ln>
            <a:noFill/>
          </a:ln>
        </p:spPr>
      </p:pic>
      <p:pic>
        <p:nvPicPr>
          <p:cNvPr id="300" name="Google Shape;300;p45"/>
          <p:cNvPicPr preferRelativeResize="0"/>
          <p:nvPr/>
        </p:nvPicPr>
        <p:blipFill>
          <a:blip r:embed="rId4">
            <a:alphaModFix/>
          </a:blip>
          <a:stretch>
            <a:fillRect/>
          </a:stretch>
        </p:blipFill>
        <p:spPr>
          <a:xfrm>
            <a:off x="4126925" y="2867238"/>
            <a:ext cx="4238625" cy="146685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Logistic Regression Confusion Matrix - Trained Data</a:t>
            </a:r>
            <a:endParaRPr/>
          </a:p>
        </p:txBody>
      </p:sp>
      <p:sp>
        <p:nvSpPr>
          <p:cNvPr id="306" name="Google Shape;306;p46"/>
          <p:cNvSpPr txBox="1"/>
          <p:nvPr>
            <p:ph idx="1" type="body"/>
          </p:nvPr>
        </p:nvSpPr>
        <p:spPr>
          <a:xfrm>
            <a:off x="311700" y="1152475"/>
            <a:ext cx="3965400" cy="3416400"/>
          </a:xfrm>
          <a:prstGeom prst="rect">
            <a:avLst/>
          </a:prstGeom>
        </p:spPr>
        <p:txBody>
          <a:bodyPr anchorCtr="0" anchor="t" bIns="91425" lIns="91425" spcFirstLastPara="1" rIns="91425" wrap="square" tIns="91425">
            <a:normAutofit fontScale="62500" lnSpcReduction="20000"/>
          </a:bodyPr>
          <a:lstStyle/>
          <a:p>
            <a:pPr indent="0" lvl="0" marL="0" rtl="0" algn="l">
              <a:spcBef>
                <a:spcPts val="0"/>
              </a:spcBef>
              <a:spcAft>
                <a:spcPts val="0"/>
              </a:spcAft>
              <a:buNone/>
            </a:pPr>
            <a:r>
              <a:rPr lang="en"/>
              <a:t>Model performs balanced classification due to the SMOTE-balanced training set.</a:t>
            </a:r>
            <a:endParaRPr/>
          </a:p>
          <a:p>
            <a:pPr indent="0" lvl="0" marL="0" rtl="0" algn="l">
              <a:spcBef>
                <a:spcPts val="1200"/>
              </a:spcBef>
              <a:spcAft>
                <a:spcPts val="0"/>
              </a:spcAft>
              <a:buNone/>
            </a:pPr>
            <a:r>
              <a:rPr lang="en"/>
              <a:t>True Positives (892, 33.8%) and True Negatives (873, 33.0%) are both strong, showing the model is learning patterns for both classes.</a:t>
            </a:r>
            <a:endParaRPr/>
          </a:p>
          <a:p>
            <a:pPr indent="0" lvl="0" marL="0" rtl="0" algn="l">
              <a:spcBef>
                <a:spcPts val="1200"/>
              </a:spcBef>
              <a:spcAft>
                <a:spcPts val="0"/>
              </a:spcAft>
              <a:buNone/>
            </a:pPr>
            <a:r>
              <a:rPr lang="en"/>
              <a:t>False Negatives (429, 16.2%) indicate some stroke cases are still being missed.</a:t>
            </a:r>
            <a:endParaRPr/>
          </a:p>
          <a:p>
            <a:pPr indent="0" lvl="0" marL="0" rtl="0" algn="l">
              <a:spcBef>
                <a:spcPts val="1200"/>
              </a:spcBef>
              <a:spcAft>
                <a:spcPts val="0"/>
              </a:spcAft>
              <a:buNone/>
            </a:pPr>
            <a:r>
              <a:rPr lang="en"/>
              <a:t>False Positives (448, 17.0%) reflect moderate over-prediction of stroke.</a:t>
            </a:r>
            <a:endParaRPr/>
          </a:p>
          <a:p>
            <a:pPr indent="0" lvl="0" marL="0" rtl="0" algn="l">
              <a:spcBef>
                <a:spcPts val="1200"/>
              </a:spcBef>
              <a:spcAft>
                <a:spcPts val="0"/>
              </a:spcAft>
              <a:buNone/>
            </a:pPr>
            <a:r>
              <a:rPr lang="en"/>
              <a:t>Overall Insight:</a:t>
            </a:r>
            <a:endParaRPr/>
          </a:p>
          <a:p>
            <a:pPr indent="0" lvl="0" marL="0" rtl="0" algn="l">
              <a:spcBef>
                <a:spcPts val="1200"/>
              </a:spcBef>
              <a:spcAft>
                <a:spcPts val="1200"/>
              </a:spcAft>
              <a:buNone/>
            </a:pPr>
            <a:r>
              <a:rPr lang="en"/>
              <a:t>The logistic regression model fits the balanced training data reasonably well, showing good recognition of both stroke and non-stroke cases. Performance here is expected to be stronger than on the test set because SMOTE reduces class imbalance during training.</a:t>
            </a:r>
            <a:endParaRPr/>
          </a:p>
        </p:txBody>
      </p:sp>
      <p:pic>
        <p:nvPicPr>
          <p:cNvPr id="307" name="Google Shape;307;p46"/>
          <p:cNvPicPr preferRelativeResize="0"/>
          <p:nvPr/>
        </p:nvPicPr>
        <p:blipFill>
          <a:blip r:embed="rId3">
            <a:alphaModFix/>
          </a:blip>
          <a:stretch>
            <a:fillRect/>
          </a:stretch>
        </p:blipFill>
        <p:spPr>
          <a:xfrm>
            <a:off x="4414750" y="1152475"/>
            <a:ext cx="4480051" cy="382097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Logistic Regression Confusion Matrix - Test Data</a:t>
            </a:r>
            <a:endParaRPr/>
          </a:p>
        </p:txBody>
      </p:sp>
      <p:sp>
        <p:nvSpPr>
          <p:cNvPr id="313" name="Google Shape;313;p47"/>
          <p:cNvSpPr txBox="1"/>
          <p:nvPr>
            <p:ph idx="1" type="body"/>
          </p:nvPr>
        </p:nvSpPr>
        <p:spPr>
          <a:xfrm>
            <a:off x="311700" y="1152475"/>
            <a:ext cx="3965400" cy="3416400"/>
          </a:xfrm>
          <a:prstGeom prst="rect">
            <a:avLst/>
          </a:prstGeom>
        </p:spPr>
        <p:txBody>
          <a:bodyPr anchorCtr="0" anchor="t" bIns="91425" lIns="91425" spcFirstLastPara="1" rIns="91425" wrap="square" tIns="91425">
            <a:normAutofit fontScale="62500" lnSpcReduction="20000"/>
          </a:bodyPr>
          <a:lstStyle/>
          <a:p>
            <a:pPr indent="0" lvl="0" marL="0" rtl="0" algn="l">
              <a:spcBef>
                <a:spcPts val="0"/>
              </a:spcBef>
              <a:spcAft>
                <a:spcPts val="0"/>
              </a:spcAft>
              <a:buNone/>
            </a:pPr>
            <a:r>
              <a:rPr lang="en"/>
              <a:t>True Negatives (381, 60.6%) show the model is strong at correctly identifying non-stroke cases.</a:t>
            </a:r>
            <a:endParaRPr/>
          </a:p>
          <a:p>
            <a:pPr indent="0" lvl="0" marL="0" rtl="0" algn="l">
              <a:spcBef>
                <a:spcPts val="1200"/>
              </a:spcBef>
              <a:spcAft>
                <a:spcPts val="0"/>
              </a:spcAft>
              <a:buNone/>
            </a:pPr>
            <a:r>
              <a:rPr lang="en"/>
              <a:t>True Positives (39, 6.2%) indicate the model successfully detects some stroke cases, though sensitivity is moderate.</a:t>
            </a:r>
            <a:endParaRPr/>
          </a:p>
          <a:p>
            <a:pPr indent="0" lvl="0" marL="0" rtl="0" algn="l">
              <a:spcBef>
                <a:spcPts val="1200"/>
              </a:spcBef>
              <a:spcAft>
                <a:spcPts val="0"/>
              </a:spcAft>
              <a:buNone/>
            </a:pPr>
            <a:r>
              <a:rPr lang="en"/>
              <a:t>False Positives (186, 29.6%) are relatively high, meaning many non-stroke cases are incorrectly predicted as stroke.</a:t>
            </a:r>
            <a:endParaRPr/>
          </a:p>
          <a:p>
            <a:pPr indent="0" lvl="0" marL="0" rtl="0" algn="l">
              <a:spcBef>
                <a:spcPts val="1200"/>
              </a:spcBef>
              <a:spcAft>
                <a:spcPts val="0"/>
              </a:spcAft>
              <a:buNone/>
            </a:pPr>
            <a:r>
              <a:rPr lang="en"/>
              <a:t>False Negatives (23, 3.7%) are comparatively low, which is good because missing stroke cases is clinically more harmful.</a:t>
            </a:r>
            <a:endParaRPr/>
          </a:p>
          <a:p>
            <a:pPr indent="0" lvl="0" marL="0" rtl="0" algn="l">
              <a:spcBef>
                <a:spcPts val="1200"/>
              </a:spcBef>
              <a:spcAft>
                <a:spcPts val="0"/>
              </a:spcAft>
              <a:buNone/>
            </a:pPr>
            <a:r>
              <a:rPr lang="en"/>
              <a:t>Overall Insight:</a:t>
            </a:r>
            <a:endParaRPr/>
          </a:p>
          <a:p>
            <a:pPr indent="0" lvl="0" marL="0" rtl="0" algn="l">
              <a:spcBef>
                <a:spcPts val="1200"/>
              </a:spcBef>
              <a:spcAft>
                <a:spcPts val="1200"/>
              </a:spcAft>
              <a:buNone/>
            </a:pPr>
            <a:r>
              <a:rPr lang="en"/>
              <a:t>Logistic Regression performs reasonably well on the test set, maintaining meaningful stroke detection (TP = 39) despite the heavily imbalanced real-world distribution. Performance drops compared to training data, which is expected since SMOTE was not applied to the test set.</a:t>
            </a:r>
            <a:endParaRPr/>
          </a:p>
        </p:txBody>
      </p:sp>
      <p:pic>
        <p:nvPicPr>
          <p:cNvPr id="314" name="Google Shape;314;p47"/>
          <p:cNvPicPr preferRelativeResize="0"/>
          <p:nvPr/>
        </p:nvPicPr>
        <p:blipFill>
          <a:blip r:embed="rId3">
            <a:alphaModFix/>
          </a:blip>
          <a:stretch>
            <a:fillRect/>
          </a:stretch>
        </p:blipFill>
        <p:spPr>
          <a:xfrm>
            <a:off x="4429500" y="1170125"/>
            <a:ext cx="4562100" cy="375457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Random Forest Results</a:t>
            </a:r>
            <a:endParaRPr/>
          </a:p>
        </p:txBody>
      </p:sp>
      <p:sp>
        <p:nvSpPr>
          <p:cNvPr id="320" name="Google Shape;320;p48"/>
          <p:cNvSpPr txBox="1"/>
          <p:nvPr>
            <p:ph idx="1" type="body"/>
          </p:nvPr>
        </p:nvSpPr>
        <p:spPr>
          <a:xfrm>
            <a:off x="311700" y="1017725"/>
            <a:ext cx="6906000" cy="3829800"/>
          </a:xfrm>
          <a:prstGeom prst="rect">
            <a:avLst/>
          </a:prstGeom>
        </p:spPr>
        <p:txBody>
          <a:bodyPr anchorCtr="0" anchor="t" bIns="91425" lIns="91425" spcFirstLastPara="1" rIns="91425" wrap="square" tIns="91425">
            <a:normAutofit fontScale="85000" lnSpcReduction="20000"/>
          </a:bodyPr>
          <a:lstStyle/>
          <a:p>
            <a:pPr indent="0" lvl="0" marL="0" rtl="0" algn="l">
              <a:spcBef>
                <a:spcPts val="1400"/>
              </a:spcBef>
              <a:spcAft>
                <a:spcPts val="0"/>
              </a:spcAft>
              <a:buNone/>
            </a:pPr>
            <a:r>
              <a:rPr lang="en" sz="1300"/>
              <a:t>Model Summary</a:t>
            </a:r>
            <a:endParaRPr sz="1300"/>
          </a:p>
          <a:p>
            <a:pPr indent="-287972" lvl="0" marL="457200" rtl="0" algn="l">
              <a:spcBef>
                <a:spcPts val="1200"/>
              </a:spcBef>
              <a:spcAft>
                <a:spcPts val="0"/>
              </a:spcAft>
              <a:buClr>
                <a:schemeClr val="accent3"/>
              </a:buClr>
              <a:buSzPct val="100000"/>
              <a:buFont typeface="Arial"/>
              <a:buChar char="●"/>
            </a:pPr>
            <a:r>
              <a:rPr lang="en" sz="1100"/>
              <a:t>Accuracy: 89%</a:t>
            </a:r>
            <a:br>
              <a:rPr lang="en" sz="1100"/>
            </a:br>
            <a:endParaRPr sz="1100"/>
          </a:p>
          <a:p>
            <a:pPr indent="-287972" lvl="0" marL="457200" rtl="0" algn="l">
              <a:spcBef>
                <a:spcPts val="0"/>
              </a:spcBef>
              <a:spcAft>
                <a:spcPts val="0"/>
              </a:spcAft>
              <a:buClr>
                <a:schemeClr val="accent3"/>
              </a:buClr>
              <a:buSzPct val="100000"/>
              <a:buFont typeface="Arial"/>
              <a:buChar char="●"/>
            </a:pPr>
            <a:r>
              <a:rPr lang="en" sz="1100"/>
              <a:t>Performs extremely well for the majority class (</a:t>
            </a:r>
            <a:r>
              <a:rPr i="1" lang="en" sz="1100"/>
              <a:t>No Stroke</a:t>
            </a:r>
            <a:r>
              <a:rPr lang="en" sz="1100"/>
              <a:t>)</a:t>
            </a:r>
            <a:br>
              <a:rPr lang="en" sz="1100"/>
            </a:br>
            <a:endParaRPr sz="1100"/>
          </a:p>
          <a:p>
            <a:pPr indent="-287972" lvl="0" marL="457200" rtl="0" algn="l">
              <a:spcBef>
                <a:spcPts val="0"/>
              </a:spcBef>
              <a:spcAft>
                <a:spcPts val="0"/>
              </a:spcAft>
              <a:buClr>
                <a:schemeClr val="accent3"/>
              </a:buClr>
              <a:buSzPct val="100000"/>
              <a:buFont typeface="Arial"/>
              <a:buChar char="●"/>
            </a:pPr>
            <a:r>
              <a:rPr lang="en" sz="1100"/>
              <a:t>Performs very poorly for the minority class (</a:t>
            </a:r>
            <a:r>
              <a:rPr i="1" lang="en" sz="1100"/>
              <a:t>Stroke</a:t>
            </a:r>
            <a:r>
              <a:rPr lang="en" sz="1100"/>
              <a:t>) despite SMOTE</a:t>
            </a:r>
            <a:br>
              <a:rPr lang="en" sz="1100"/>
            </a:br>
            <a:endParaRPr sz="1100"/>
          </a:p>
          <a:p>
            <a:pPr indent="-287972" lvl="0" marL="457200" rtl="0" algn="l">
              <a:spcBef>
                <a:spcPts val="0"/>
              </a:spcBef>
              <a:spcAft>
                <a:spcPts val="0"/>
              </a:spcAft>
              <a:buClr>
                <a:schemeClr val="accent3"/>
              </a:buClr>
              <a:buSzPct val="100000"/>
              <a:buFont typeface="Arial"/>
              <a:buChar char="●"/>
            </a:pPr>
            <a:r>
              <a:rPr lang="en" sz="1100"/>
              <a:t>High overall accuracy is misleading due to severe class imbalance</a:t>
            </a:r>
            <a:endParaRPr sz="1100"/>
          </a:p>
          <a:p>
            <a:pPr indent="0" lvl="0" marL="0" rtl="0" algn="l">
              <a:spcBef>
                <a:spcPts val="1400"/>
              </a:spcBef>
              <a:spcAft>
                <a:spcPts val="0"/>
              </a:spcAft>
              <a:buNone/>
            </a:pPr>
            <a:r>
              <a:rPr lang="en" sz="1300"/>
              <a:t>Co</a:t>
            </a:r>
            <a:r>
              <a:rPr lang="en" sz="1300"/>
              <a:t>n</a:t>
            </a:r>
            <a:r>
              <a:rPr lang="en" sz="1300"/>
              <a:t>fusion Matrix Interpretation</a:t>
            </a:r>
            <a:endParaRPr sz="1300"/>
          </a:p>
          <a:p>
            <a:pPr indent="-287972" lvl="0" marL="457200" rtl="0" algn="l">
              <a:spcBef>
                <a:spcPts val="1200"/>
              </a:spcBef>
              <a:spcAft>
                <a:spcPts val="0"/>
              </a:spcAft>
              <a:buClr>
                <a:schemeClr val="accent3"/>
              </a:buClr>
              <a:buSzPct val="100000"/>
              <a:buFont typeface="Arial"/>
              <a:buChar char="●"/>
            </a:pPr>
            <a:r>
              <a:rPr lang="en" sz="1100"/>
              <a:t>True Negatives (TN = 561): Correctly identified most non-stroke patients</a:t>
            </a:r>
            <a:br>
              <a:rPr lang="en" sz="1100"/>
            </a:br>
            <a:endParaRPr sz="1100"/>
          </a:p>
          <a:p>
            <a:pPr indent="-287972" lvl="0" marL="457200" rtl="0" algn="l">
              <a:spcBef>
                <a:spcPts val="0"/>
              </a:spcBef>
              <a:spcAft>
                <a:spcPts val="0"/>
              </a:spcAft>
              <a:buClr>
                <a:schemeClr val="accent3"/>
              </a:buClr>
              <a:buSzPct val="100000"/>
              <a:buFont typeface="Arial"/>
              <a:buChar char="●"/>
            </a:pPr>
            <a:r>
              <a:rPr lang="en" sz="1100"/>
              <a:t>False Positives (FP = 6): Rarely predicts stroke when there is none</a:t>
            </a:r>
            <a:br>
              <a:rPr lang="en" sz="1100"/>
            </a:br>
            <a:endParaRPr sz="1100"/>
          </a:p>
          <a:p>
            <a:pPr indent="-287972" lvl="0" marL="457200" rtl="0" algn="l">
              <a:spcBef>
                <a:spcPts val="0"/>
              </a:spcBef>
              <a:spcAft>
                <a:spcPts val="0"/>
              </a:spcAft>
              <a:buClr>
                <a:schemeClr val="accent3"/>
              </a:buClr>
              <a:buSzPct val="100000"/>
              <a:buFont typeface="Arial"/>
              <a:buChar char="●"/>
            </a:pPr>
            <a:r>
              <a:rPr lang="en" sz="1100"/>
              <a:t>False Negatives (FN = 61): Missed almost all actual stroke cases</a:t>
            </a:r>
            <a:br>
              <a:rPr lang="en" sz="1100"/>
            </a:br>
            <a:endParaRPr sz="1100"/>
          </a:p>
          <a:p>
            <a:pPr indent="-287972" lvl="0" marL="457200" rtl="0" algn="l">
              <a:spcBef>
                <a:spcPts val="0"/>
              </a:spcBef>
              <a:spcAft>
                <a:spcPts val="0"/>
              </a:spcAft>
              <a:buClr>
                <a:schemeClr val="accent3"/>
              </a:buClr>
              <a:buSzPct val="100000"/>
              <a:buFont typeface="Arial"/>
              <a:buChar char="●"/>
            </a:pPr>
            <a:r>
              <a:rPr lang="en" sz="1100"/>
              <a:t>True Positives (TP = 1): Correctly detected only 1 stroke</a:t>
            </a:r>
            <a:endParaRPr sz="1100"/>
          </a:p>
          <a:p>
            <a:pPr indent="0" lvl="0" marL="0" rtl="0" algn="l">
              <a:spcBef>
                <a:spcPts val="1400"/>
              </a:spcBef>
              <a:spcAft>
                <a:spcPts val="0"/>
              </a:spcAft>
              <a:buNone/>
            </a:pPr>
            <a:r>
              <a:rPr lang="en" sz="1300"/>
              <a:t>Takeaway</a:t>
            </a:r>
            <a:endParaRPr sz="1300"/>
          </a:p>
          <a:p>
            <a:pPr indent="0" lvl="0" marL="0" rtl="0" algn="l">
              <a:spcBef>
                <a:spcPts val="1200"/>
              </a:spcBef>
              <a:spcAft>
                <a:spcPts val="1200"/>
              </a:spcAft>
              <a:buNone/>
            </a:pPr>
            <a:r>
              <a:rPr lang="en" sz="1100"/>
              <a:t>Random Forest learns majority-class patterns extremely well but fails to detect stroke cases reliably, even after oversampling.</a:t>
            </a:r>
            <a:br>
              <a:rPr lang="en" sz="1100"/>
            </a:br>
            <a:r>
              <a:rPr lang="en" sz="1100"/>
              <a:t> It is not appropriate for predicting rare events like stroke without additional techniques (threshold tuning, cost-sensitive learning, or alternative algorithms).</a:t>
            </a:r>
            <a:endParaRPr/>
          </a:p>
        </p:txBody>
      </p:sp>
      <p:pic>
        <p:nvPicPr>
          <p:cNvPr id="321" name="Google Shape;321;p48"/>
          <p:cNvPicPr preferRelativeResize="0"/>
          <p:nvPr/>
        </p:nvPicPr>
        <p:blipFill>
          <a:blip r:embed="rId3">
            <a:alphaModFix/>
          </a:blip>
          <a:stretch>
            <a:fillRect/>
          </a:stretch>
        </p:blipFill>
        <p:spPr>
          <a:xfrm>
            <a:off x="4850850" y="2046800"/>
            <a:ext cx="3981450" cy="177165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Random Forest Confusion Matrix - Trained Data</a:t>
            </a:r>
            <a:endParaRPr/>
          </a:p>
        </p:txBody>
      </p:sp>
      <p:sp>
        <p:nvSpPr>
          <p:cNvPr id="327" name="Google Shape;327;p49"/>
          <p:cNvSpPr txBox="1"/>
          <p:nvPr>
            <p:ph idx="1" type="body"/>
          </p:nvPr>
        </p:nvSpPr>
        <p:spPr>
          <a:xfrm>
            <a:off x="311700" y="1152475"/>
            <a:ext cx="3935700" cy="3416400"/>
          </a:xfrm>
          <a:prstGeom prst="rect">
            <a:avLst/>
          </a:prstGeom>
        </p:spPr>
        <p:txBody>
          <a:bodyPr anchorCtr="0" anchor="t" bIns="91425" lIns="91425" spcFirstLastPara="1" rIns="91425" wrap="square" tIns="91425">
            <a:normAutofit fontScale="55000"/>
          </a:bodyPr>
          <a:lstStyle/>
          <a:p>
            <a:pPr indent="0" lvl="0" marL="0" rtl="0" algn="l">
              <a:spcBef>
                <a:spcPts val="0"/>
              </a:spcBef>
              <a:spcAft>
                <a:spcPts val="0"/>
              </a:spcAft>
              <a:buNone/>
            </a:pPr>
            <a:r>
              <a:rPr lang="en"/>
              <a:t>Perfect classification on the balanced training set:</a:t>
            </a:r>
            <a:endParaRPr/>
          </a:p>
          <a:p>
            <a:pPr indent="0" lvl="0" marL="0" rtl="0" algn="l">
              <a:spcBef>
                <a:spcPts val="1200"/>
              </a:spcBef>
              <a:spcAft>
                <a:spcPts val="0"/>
              </a:spcAft>
              <a:buNone/>
            </a:pPr>
            <a:r>
              <a:rPr lang="en"/>
              <a:t>True Negatives (1321, 50%)</a:t>
            </a:r>
            <a:endParaRPr/>
          </a:p>
          <a:p>
            <a:pPr indent="0" lvl="0" marL="0" rtl="0" algn="l">
              <a:spcBef>
                <a:spcPts val="1200"/>
              </a:spcBef>
              <a:spcAft>
                <a:spcPts val="0"/>
              </a:spcAft>
              <a:buNone/>
            </a:pPr>
            <a:r>
              <a:rPr lang="en"/>
              <a:t>True Positives (1321, 50%)</a:t>
            </a:r>
            <a:endParaRPr/>
          </a:p>
          <a:p>
            <a:pPr indent="0" lvl="0" marL="0" rtl="0" algn="l">
              <a:spcBef>
                <a:spcPts val="1200"/>
              </a:spcBef>
              <a:spcAft>
                <a:spcPts val="0"/>
              </a:spcAft>
              <a:buNone/>
            </a:pPr>
            <a:r>
              <a:rPr lang="en"/>
              <a:t>Zero False Positives and Zero False Negatives</a:t>
            </a:r>
            <a:endParaRPr/>
          </a:p>
          <a:p>
            <a:pPr indent="0" lvl="0" marL="0" rtl="0" algn="l">
              <a:spcBef>
                <a:spcPts val="1200"/>
              </a:spcBef>
              <a:spcAft>
                <a:spcPts val="0"/>
              </a:spcAft>
              <a:buNone/>
            </a:pPr>
            <a:r>
              <a:rPr lang="en"/>
              <a:t>This level of performance is not realistic and indicates the model has likely overfit to the SMOTE-generated training data.</a:t>
            </a:r>
            <a:endParaRPr/>
          </a:p>
          <a:p>
            <a:pPr indent="0" lvl="0" marL="0" rtl="0" algn="l">
              <a:spcBef>
                <a:spcPts val="1200"/>
              </a:spcBef>
              <a:spcAft>
                <a:spcPts val="0"/>
              </a:spcAft>
              <a:buNone/>
            </a:pPr>
            <a:r>
              <a:rPr lang="en"/>
              <a:t>Random Forest memorized the training patterns extremely well but may not generalize to real-world stroke cases.</a:t>
            </a:r>
            <a:endParaRPr/>
          </a:p>
          <a:p>
            <a:pPr indent="0" lvl="0" marL="0" rtl="0" algn="l">
              <a:spcBef>
                <a:spcPts val="1200"/>
              </a:spcBef>
              <a:spcAft>
                <a:spcPts val="0"/>
              </a:spcAft>
              <a:buNone/>
            </a:pPr>
            <a:r>
              <a:rPr lang="en"/>
              <a:t>Overall Insight:</a:t>
            </a:r>
            <a:endParaRPr/>
          </a:p>
          <a:p>
            <a:pPr indent="0" lvl="0" marL="0" rtl="0" algn="l">
              <a:spcBef>
                <a:spcPts val="1200"/>
              </a:spcBef>
              <a:spcAft>
                <a:spcPts val="1200"/>
              </a:spcAft>
              <a:buNone/>
            </a:pPr>
            <a:r>
              <a:rPr lang="en"/>
              <a:t>Random Forest appears extremely accurate on training data, but this is a red flag for overfitting — especially because the test results do not match this level of performance.</a:t>
            </a:r>
            <a:endParaRPr/>
          </a:p>
        </p:txBody>
      </p:sp>
      <p:pic>
        <p:nvPicPr>
          <p:cNvPr id="328" name="Google Shape;328;p49"/>
          <p:cNvPicPr preferRelativeResize="0"/>
          <p:nvPr/>
        </p:nvPicPr>
        <p:blipFill>
          <a:blip r:embed="rId3">
            <a:alphaModFix/>
          </a:blip>
          <a:stretch>
            <a:fillRect/>
          </a:stretch>
        </p:blipFill>
        <p:spPr>
          <a:xfrm>
            <a:off x="4399800" y="1170125"/>
            <a:ext cx="4344283" cy="382097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Random Forest Confusion Matrix - Test Data</a:t>
            </a:r>
            <a:endParaRPr/>
          </a:p>
        </p:txBody>
      </p:sp>
      <p:sp>
        <p:nvSpPr>
          <p:cNvPr id="334" name="Google Shape;334;p50"/>
          <p:cNvSpPr txBox="1"/>
          <p:nvPr>
            <p:ph idx="1" type="body"/>
          </p:nvPr>
        </p:nvSpPr>
        <p:spPr>
          <a:xfrm>
            <a:off x="311700" y="949275"/>
            <a:ext cx="4039200" cy="34164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440"/>
              <a:buNone/>
            </a:pPr>
            <a:r>
              <a:rPr lang="en" sz="1020"/>
              <a:t>True Negatives (561, 89.2%)</a:t>
            </a:r>
            <a:endParaRPr sz="1020"/>
          </a:p>
          <a:p>
            <a:pPr indent="0" lvl="0" marL="0" rtl="0" algn="l">
              <a:lnSpc>
                <a:spcPct val="105000"/>
              </a:lnSpc>
              <a:spcBef>
                <a:spcPts val="1200"/>
              </a:spcBef>
              <a:spcAft>
                <a:spcPts val="0"/>
              </a:spcAft>
              <a:buSzPts val="440"/>
              <a:buNone/>
            </a:pPr>
            <a:r>
              <a:rPr lang="en" sz="1020"/>
              <a:t>Model is very strong at correctly identifying non-stroke cases.</a:t>
            </a:r>
            <a:endParaRPr sz="1020"/>
          </a:p>
          <a:p>
            <a:pPr indent="0" lvl="0" marL="0" rtl="0" algn="l">
              <a:lnSpc>
                <a:spcPct val="105000"/>
              </a:lnSpc>
              <a:spcBef>
                <a:spcPts val="1200"/>
              </a:spcBef>
              <a:spcAft>
                <a:spcPts val="0"/>
              </a:spcAft>
              <a:buSzPts val="440"/>
              <a:buNone/>
            </a:pPr>
            <a:r>
              <a:rPr lang="en" sz="1020"/>
              <a:t>True Positives (1, 0.2%)</a:t>
            </a:r>
            <a:endParaRPr sz="1020"/>
          </a:p>
          <a:p>
            <a:pPr indent="0" lvl="0" marL="0" rtl="0" algn="l">
              <a:lnSpc>
                <a:spcPct val="105000"/>
              </a:lnSpc>
              <a:spcBef>
                <a:spcPts val="1200"/>
              </a:spcBef>
              <a:spcAft>
                <a:spcPts val="0"/>
              </a:spcAft>
              <a:buSzPts val="440"/>
              <a:buNone/>
            </a:pPr>
            <a:r>
              <a:rPr lang="en" sz="1020"/>
              <a:t>Random Forest detects almost no actual stroke cases.</a:t>
            </a:r>
            <a:endParaRPr sz="1020"/>
          </a:p>
          <a:p>
            <a:pPr indent="0" lvl="0" marL="0" rtl="0" algn="l">
              <a:lnSpc>
                <a:spcPct val="105000"/>
              </a:lnSpc>
              <a:spcBef>
                <a:spcPts val="1200"/>
              </a:spcBef>
              <a:spcAft>
                <a:spcPts val="0"/>
              </a:spcAft>
              <a:buSzPts val="440"/>
              <a:buNone/>
            </a:pPr>
            <a:r>
              <a:rPr lang="en" sz="1020"/>
              <a:t>False Negatives (61, 9.7%)</a:t>
            </a:r>
            <a:endParaRPr sz="1020"/>
          </a:p>
          <a:p>
            <a:pPr indent="0" lvl="0" marL="0" rtl="0" algn="l">
              <a:lnSpc>
                <a:spcPct val="105000"/>
              </a:lnSpc>
              <a:spcBef>
                <a:spcPts val="1200"/>
              </a:spcBef>
              <a:spcAft>
                <a:spcPts val="0"/>
              </a:spcAft>
              <a:buSzPts val="440"/>
              <a:buNone/>
            </a:pPr>
            <a:r>
              <a:rPr lang="en" sz="1020"/>
              <a:t>The model misses the</a:t>
            </a:r>
            <a:r>
              <a:rPr lang="en" sz="1020"/>
              <a:t> </a:t>
            </a:r>
            <a:r>
              <a:rPr lang="en" sz="1020"/>
              <a:t>vast majority of stroke patients, which is dangerous in a clinical context.</a:t>
            </a:r>
            <a:endParaRPr sz="1020"/>
          </a:p>
          <a:p>
            <a:pPr indent="0" lvl="0" marL="0" rtl="0" algn="l">
              <a:lnSpc>
                <a:spcPct val="105000"/>
              </a:lnSpc>
              <a:spcBef>
                <a:spcPts val="1200"/>
              </a:spcBef>
              <a:spcAft>
                <a:spcPts val="0"/>
              </a:spcAft>
              <a:buSzPts val="440"/>
              <a:buNone/>
            </a:pPr>
            <a:r>
              <a:rPr lang="en" sz="1020"/>
              <a:t>False Positives (6, 1.0%)</a:t>
            </a:r>
            <a:endParaRPr sz="1020"/>
          </a:p>
          <a:p>
            <a:pPr indent="0" lvl="0" marL="0" rtl="0" algn="l">
              <a:lnSpc>
                <a:spcPct val="105000"/>
              </a:lnSpc>
              <a:spcBef>
                <a:spcPts val="1200"/>
              </a:spcBef>
              <a:spcAft>
                <a:spcPts val="0"/>
              </a:spcAft>
              <a:buSzPts val="440"/>
              <a:buNone/>
            </a:pPr>
            <a:r>
              <a:rPr lang="en" sz="1020"/>
              <a:t>Very low — the model rarely predicts stroke incorrectly.</a:t>
            </a:r>
            <a:endParaRPr sz="1020"/>
          </a:p>
          <a:p>
            <a:pPr indent="0" lvl="0" marL="0" rtl="0" algn="l">
              <a:lnSpc>
                <a:spcPct val="105000"/>
              </a:lnSpc>
              <a:spcBef>
                <a:spcPts val="1200"/>
              </a:spcBef>
              <a:spcAft>
                <a:spcPts val="0"/>
              </a:spcAft>
              <a:buSzPts val="440"/>
              <a:buNone/>
            </a:pPr>
            <a:r>
              <a:rPr lang="en" sz="1020"/>
              <a:t>Overall Insight:</a:t>
            </a:r>
            <a:endParaRPr sz="1020"/>
          </a:p>
          <a:p>
            <a:pPr indent="0" lvl="0" marL="0" rtl="0" algn="l">
              <a:lnSpc>
                <a:spcPct val="105000"/>
              </a:lnSpc>
              <a:spcBef>
                <a:spcPts val="1200"/>
              </a:spcBef>
              <a:spcAft>
                <a:spcPts val="0"/>
              </a:spcAft>
              <a:buSzPts val="440"/>
              <a:buNone/>
            </a:pPr>
            <a:r>
              <a:rPr lang="en" sz="1020"/>
              <a:t>Despite excellent accuracy for the majority class, the Random Forest model fails almost completely at detecting strokes in real-world (imbalanced) test data.</a:t>
            </a:r>
            <a:endParaRPr sz="1020"/>
          </a:p>
          <a:p>
            <a:pPr indent="0" lvl="0" marL="0" rtl="0" algn="l">
              <a:lnSpc>
                <a:spcPct val="105000"/>
              </a:lnSpc>
              <a:spcBef>
                <a:spcPts val="1200"/>
              </a:spcBef>
              <a:spcAft>
                <a:spcPts val="1200"/>
              </a:spcAft>
              <a:buSzPts val="440"/>
              <a:buNone/>
            </a:pPr>
            <a:r>
              <a:rPr lang="en" sz="1020"/>
              <a:t>This demonstrates severe overfitting and makes the model clinically unsuitable for stroke prediction.</a:t>
            </a:r>
            <a:endParaRPr sz="1020"/>
          </a:p>
        </p:txBody>
      </p:sp>
      <p:pic>
        <p:nvPicPr>
          <p:cNvPr id="335" name="Google Shape;335;p50"/>
          <p:cNvPicPr preferRelativeResize="0"/>
          <p:nvPr/>
        </p:nvPicPr>
        <p:blipFill>
          <a:blip r:embed="rId3">
            <a:alphaModFix/>
          </a:blip>
          <a:stretch>
            <a:fillRect/>
          </a:stretch>
        </p:blipFill>
        <p:spPr>
          <a:xfrm>
            <a:off x="4350900" y="1144725"/>
            <a:ext cx="4488301" cy="3709887"/>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ROC Curve Comparison</a:t>
            </a:r>
            <a:endParaRPr/>
          </a:p>
        </p:txBody>
      </p:sp>
      <p:sp>
        <p:nvSpPr>
          <p:cNvPr id="341" name="Google Shape;341;p51"/>
          <p:cNvSpPr txBox="1"/>
          <p:nvPr>
            <p:ph idx="1" type="body"/>
          </p:nvPr>
        </p:nvSpPr>
        <p:spPr>
          <a:xfrm>
            <a:off x="311700" y="1152475"/>
            <a:ext cx="3879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LR AUC ≈ 0.70 — moderate discriminatory ability</a:t>
            </a:r>
            <a:endParaRPr/>
          </a:p>
          <a:p>
            <a:pPr indent="0" lvl="0" marL="0" rtl="0" algn="l">
              <a:spcBef>
                <a:spcPts val="1200"/>
              </a:spcBef>
              <a:spcAft>
                <a:spcPts val="0"/>
              </a:spcAft>
              <a:buNone/>
            </a:pPr>
            <a:r>
              <a:rPr lang="en"/>
              <a:t>RF AUC ≈ 0.61 — worse at distinguishing stroke vs non-stroke</a:t>
            </a:r>
            <a:endParaRPr/>
          </a:p>
          <a:p>
            <a:pPr indent="0" lvl="0" marL="0" rtl="0" algn="l">
              <a:spcBef>
                <a:spcPts val="1200"/>
              </a:spcBef>
              <a:spcAft>
                <a:spcPts val="1200"/>
              </a:spcAft>
              <a:buNone/>
            </a:pPr>
            <a:r>
              <a:rPr lang="en"/>
              <a:t>LR outperforms RF for minority-class detection</a:t>
            </a:r>
            <a:endParaRPr/>
          </a:p>
        </p:txBody>
      </p:sp>
      <p:pic>
        <p:nvPicPr>
          <p:cNvPr id="342" name="Google Shape;342;p51"/>
          <p:cNvPicPr preferRelativeResize="0"/>
          <p:nvPr/>
        </p:nvPicPr>
        <p:blipFill>
          <a:blip r:embed="rId3">
            <a:alphaModFix/>
          </a:blip>
          <a:stretch>
            <a:fillRect/>
          </a:stretch>
        </p:blipFill>
        <p:spPr>
          <a:xfrm>
            <a:off x="4254900" y="797438"/>
            <a:ext cx="4648200" cy="3548626"/>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UMAP 2D Embedding</a:t>
            </a:r>
            <a:endParaRPr/>
          </a:p>
        </p:txBody>
      </p:sp>
      <p:sp>
        <p:nvSpPr>
          <p:cNvPr id="348" name="Google Shape;348;p52"/>
          <p:cNvSpPr txBox="1"/>
          <p:nvPr>
            <p:ph idx="1" type="body"/>
          </p:nvPr>
        </p:nvSpPr>
        <p:spPr>
          <a:xfrm>
            <a:off x="311700" y="931475"/>
            <a:ext cx="4149900" cy="3881100"/>
          </a:xfrm>
          <a:prstGeom prst="rect">
            <a:avLst/>
          </a:prstGeom>
        </p:spPr>
        <p:txBody>
          <a:bodyPr anchorCtr="0" anchor="t" bIns="91425" lIns="91425" spcFirstLastPara="1" rIns="91425" wrap="square" tIns="91425">
            <a:normAutofit fontScale="62500" lnSpcReduction="10000"/>
          </a:bodyPr>
          <a:lstStyle/>
          <a:p>
            <a:pPr indent="0" lvl="0" marL="0" rtl="0" algn="l">
              <a:spcBef>
                <a:spcPts val="0"/>
              </a:spcBef>
              <a:spcAft>
                <a:spcPts val="0"/>
              </a:spcAft>
              <a:buNone/>
            </a:pPr>
            <a:r>
              <a:rPr lang="en"/>
              <a:t>The UMAP projection does not show distinct clusters separating stroke vs. non-stroke individuals.</a:t>
            </a:r>
            <a:endParaRPr/>
          </a:p>
          <a:p>
            <a:pPr indent="0" lvl="0" marL="0" rtl="0" algn="l">
              <a:spcBef>
                <a:spcPts val="1200"/>
              </a:spcBef>
              <a:spcAft>
                <a:spcPts val="0"/>
              </a:spcAft>
              <a:buNone/>
            </a:pPr>
            <a:r>
              <a:rPr lang="en"/>
              <a:t>Stroke cases appear scattered throughout the space, indicating that stroke risk is not explained by any single feature or simple combination.</a:t>
            </a:r>
            <a:endParaRPr/>
          </a:p>
          <a:p>
            <a:pPr indent="0" lvl="0" marL="0" rtl="0" algn="l">
              <a:spcBef>
                <a:spcPts val="1200"/>
              </a:spcBef>
              <a:spcAft>
                <a:spcPts val="0"/>
              </a:spcAft>
              <a:buNone/>
            </a:pPr>
            <a:r>
              <a:rPr lang="en"/>
              <a:t>This supports the idea that stroke prediction requires multivariate machine learning models, not linear or single-variable decision rules.</a:t>
            </a:r>
            <a:endParaRPr/>
          </a:p>
          <a:p>
            <a:pPr indent="0" lvl="0" marL="0" rtl="0" algn="l">
              <a:spcBef>
                <a:spcPts val="1200"/>
              </a:spcBef>
              <a:spcAft>
                <a:spcPts val="0"/>
              </a:spcAft>
              <a:buNone/>
            </a:pPr>
            <a:r>
              <a:rPr lang="en"/>
              <a:t>The lack of clear grouping also reflects the complexity of clinical stroke risk, which depends on interactions among age, glucose, hypertension, heart disease, and other factors.</a:t>
            </a:r>
            <a:endParaRPr/>
          </a:p>
          <a:p>
            <a:pPr indent="0" lvl="0" marL="0" rtl="0" algn="l">
              <a:spcBef>
                <a:spcPts val="1200"/>
              </a:spcBef>
              <a:spcAft>
                <a:spcPts val="0"/>
              </a:spcAft>
              <a:buNone/>
            </a:pPr>
            <a:r>
              <a:rPr lang="en"/>
              <a:t>Overall Insight:</a:t>
            </a:r>
            <a:endParaRPr/>
          </a:p>
          <a:p>
            <a:pPr indent="0" lvl="0" marL="0" rtl="0" algn="l">
              <a:spcBef>
                <a:spcPts val="1200"/>
              </a:spcBef>
              <a:spcAft>
                <a:spcPts val="1200"/>
              </a:spcAft>
              <a:buNone/>
            </a:pPr>
            <a:r>
              <a:rPr lang="en"/>
              <a:t>UMAP reveals that stroke outcomes do not form natural clusters in feature space — reinforcing the need for machine learning models capable of capturing subtle, nonlinear patterns rather than relying on visual group separation.</a:t>
            </a:r>
            <a:endParaRPr/>
          </a:p>
        </p:txBody>
      </p:sp>
      <p:pic>
        <p:nvPicPr>
          <p:cNvPr id="349" name="Google Shape;349;p52"/>
          <p:cNvPicPr preferRelativeResize="0"/>
          <p:nvPr/>
        </p:nvPicPr>
        <p:blipFill>
          <a:blip r:embed="rId3">
            <a:alphaModFix/>
          </a:blip>
          <a:stretch>
            <a:fillRect/>
          </a:stretch>
        </p:blipFill>
        <p:spPr>
          <a:xfrm>
            <a:off x="4572000" y="1152475"/>
            <a:ext cx="4345700" cy="388122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Conclusions</a:t>
            </a:r>
            <a:endParaRPr/>
          </a:p>
        </p:txBody>
      </p:sp>
      <p:sp>
        <p:nvSpPr>
          <p:cNvPr id="355" name="Google Shape;355;p5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t>• Age, glucose, hypertension, and heart disease were the strongest predictors of stroke.</a:t>
            </a:r>
            <a:endParaRPr/>
          </a:p>
          <a:p>
            <a:pPr indent="0" lvl="0" marL="0" rtl="0" algn="l">
              <a:spcBef>
                <a:spcPts val="1200"/>
              </a:spcBef>
              <a:spcAft>
                <a:spcPts val="0"/>
              </a:spcAft>
              <a:buNone/>
            </a:pPr>
            <a:r>
              <a:rPr lang="en"/>
              <a:t>• Gender, marital status, work type, and residence type showed no significant difference.</a:t>
            </a:r>
            <a:endParaRPr/>
          </a:p>
          <a:p>
            <a:pPr indent="0" lvl="0" marL="0" rtl="0" algn="l">
              <a:spcBef>
                <a:spcPts val="1200"/>
              </a:spcBef>
              <a:spcAft>
                <a:spcPts val="0"/>
              </a:spcAft>
              <a:buNone/>
            </a:pPr>
            <a:r>
              <a:rPr lang="en"/>
              <a:t>• Logistic Regression performed moderately well in detecting stroke cases (higher recall).</a:t>
            </a:r>
            <a:endParaRPr/>
          </a:p>
          <a:p>
            <a:pPr indent="0" lvl="0" marL="0" rtl="0" algn="l">
              <a:spcBef>
                <a:spcPts val="1200"/>
              </a:spcBef>
              <a:spcAft>
                <a:spcPts val="0"/>
              </a:spcAft>
              <a:buNone/>
            </a:pPr>
            <a:r>
              <a:rPr lang="en"/>
              <a:t>• Random Forest achieved high accuracy but failed to detect stroke cases, producing many false negatives.</a:t>
            </a:r>
            <a:endParaRPr/>
          </a:p>
          <a:p>
            <a:pPr indent="0" lvl="0" marL="0" rtl="0" algn="l">
              <a:spcBef>
                <a:spcPts val="1200"/>
              </a:spcBef>
              <a:spcAft>
                <a:spcPts val="0"/>
              </a:spcAft>
              <a:buNone/>
            </a:pPr>
            <a:r>
              <a:rPr lang="en"/>
              <a:t>• Non-normality of predictors + heavy class imbalance justified the use of SMOTE and ML techniques.</a:t>
            </a:r>
            <a:endParaRPr/>
          </a:p>
          <a:p>
            <a:pPr indent="0" lvl="0" marL="0" rtl="0" algn="l">
              <a:spcBef>
                <a:spcPts val="1200"/>
              </a:spcBef>
              <a:spcAft>
                <a:spcPts val="0"/>
              </a:spcAft>
              <a:buNone/>
            </a:pPr>
            <a:r>
              <a:rPr lang="en"/>
              <a:t>Clinical Interpretation</a:t>
            </a:r>
            <a:endParaRPr/>
          </a:p>
          <a:p>
            <a:pPr indent="0" lvl="0" marL="0" rtl="0" algn="l">
              <a:spcBef>
                <a:spcPts val="1200"/>
              </a:spcBef>
              <a:spcAft>
                <a:spcPts val="1200"/>
              </a:spcAft>
              <a:buNone/>
            </a:pPr>
            <a:r>
              <a:rPr lang="en"/>
              <a:t>A model that misses most stroke cases has limited clinical use,  future work must focus on improving recall and sensitivity.</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References</a:t>
            </a:r>
            <a:endParaRPr/>
          </a:p>
        </p:txBody>
      </p:sp>
      <p:sp>
        <p:nvSpPr>
          <p:cNvPr id="361" name="Google Shape;361;p5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rgbClr val="1A1A1A"/>
                </a:solidFill>
              </a:rPr>
              <a:t>Stroke Prediction Dataset. (2021, January 26). Kaggle. </a:t>
            </a:r>
            <a:r>
              <a:rPr lang="en" u="sng">
                <a:solidFill>
                  <a:srgbClr val="1C3678"/>
                </a:solidFill>
                <a:hlinkClick r:id="rId3">
                  <a:extLst>
                    <a:ext uri="{A12FA001-AC4F-418D-AE19-62706E023703}">
                      <ahyp:hlinkClr val="tx"/>
                    </a:ext>
                  </a:extLst>
                </a:hlinkClick>
              </a:rPr>
              <a:t>https://www.kaggle.com/datasets/fedesoriano/stroke-prediction-dataset/data?select=healthcare-dataset-stroke-data.csv</a:t>
            </a:r>
            <a:endParaRPr>
              <a:solidFill>
                <a:srgbClr val="1B1B1B"/>
              </a:solidFill>
              <a:highlight>
                <a:srgbClr val="FFFFFF"/>
              </a:highlight>
            </a:endParaRPr>
          </a:p>
          <a:p>
            <a:pPr indent="0" lvl="0" marL="0" rtl="0" algn="l">
              <a:spcBef>
                <a:spcPts val="1200"/>
              </a:spcBef>
              <a:spcAft>
                <a:spcPts val="0"/>
              </a:spcAft>
              <a:buNone/>
            </a:pPr>
            <a:r>
              <a:t/>
            </a:r>
            <a:endParaRPr>
              <a:solidFill>
                <a:srgbClr val="1B1B1B"/>
              </a:solidFill>
              <a:highlight>
                <a:srgbClr val="FFFFFF"/>
              </a:highlight>
            </a:endParaRPr>
          </a:p>
          <a:p>
            <a:pPr indent="0" lvl="0" marL="0" rtl="0" algn="l">
              <a:spcBef>
                <a:spcPts val="1200"/>
              </a:spcBef>
              <a:spcAft>
                <a:spcPts val="0"/>
              </a:spcAft>
              <a:buNone/>
            </a:pPr>
            <a:r>
              <a:rPr lang="en">
                <a:solidFill>
                  <a:srgbClr val="1B1B1B"/>
                </a:solidFill>
                <a:highlight>
                  <a:srgbClr val="FFFFFF"/>
                </a:highlight>
              </a:rPr>
              <a:t>Hassan, A., Gulzar Ahmad, S., Ullah Munir, E., Ali Khan, I., &amp; Ramzan, N. (2024). Predictive modelling and identification of key risk factors for stroke using machine learning. </a:t>
            </a:r>
            <a:r>
              <a:rPr i="1" lang="en">
                <a:solidFill>
                  <a:srgbClr val="1B1B1B"/>
                </a:solidFill>
                <a:highlight>
                  <a:srgbClr val="FFFFFF"/>
                </a:highlight>
              </a:rPr>
              <a:t>Scientific reports</a:t>
            </a:r>
            <a:r>
              <a:rPr lang="en">
                <a:solidFill>
                  <a:srgbClr val="1B1B1B"/>
                </a:solidFill>
                <a:highlight>
                  <a:srgbClr val="FFFFFF"/>
                </a:highlight>
              </a:rPr>
              <a:t>, </a:t>
            </a:r>
            <a:r>
              <a:rPr i="1" lang="en">
                <a:solidFill>
                  <a:srgbClr val="1B1B1B"/>
                </a:solidFill>
                <a:highlight>
                  <a:srgbClr val="FFFFFF"/>
                </a:highlight>
              </a:rPr>
              <a:t>14</a:t>
            </a:r>
            <a:r>
              <a:rPr lang="en">
                <a:solidFill>
                  <a:srgbClr val="1B1B1B"/>
                </a:solidFill>
                <a:highlight>
                  <a:srgbClr val="FFFFFF"/>
                </a:highlight>
              </a:rPr>
              <a:t>(1), 11498. </a:t>
            </a:r>
            <a:r>
              <a:rPr lang="en" u="sng">
                <a:solidFill>
                  <a:schemeClr val="hlink"/>
                </a:solidFill>
                <a:highlight>
                  <a:srgbClr val="FFFFFF"/>
                </a:highlight>
                <a:hlinkClick r:id="rId4"/>
              </a:rPr>
              <a:t>https://doi.org/10.1038/s41598-024-61665-4</a:t>
            </a:r>
            <a:endParaRPr>
              <a:solidFill>
                <a:srgbClr val="1B1B1B"/>
              </a:solidFill>
              <a:highlight>
                <a:srgbClr val="FFFFFF"/>
              </a:highlight>
            </a:endParaRPr>
          </a:p>
          <a:p>
            <a:pPr indent="0" lvl="0" marL="0" rtl="0" algn="l">
              <a:spcBef>
                <a:spcPts val="1200"/>
              </a:spcBef>
              <a:spcAft>
                <a:spcPts val="1200"/>
              </a:spcAft>
              <a:buNone/>
            </a:pPr>
            <a:r>
              <a:t/>
            </a:r>
            <a:endParaRPr>
              <a:solidFill>
                <a:srgbClr val="1B1B1B"/>
              </a:solidFill>
              <a:highlight>
                <a:srgbClr val="FFFFFF"/>
              </a:highlight>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FF5252"/>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